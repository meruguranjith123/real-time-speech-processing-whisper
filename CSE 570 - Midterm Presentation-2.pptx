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Golos Text"/>
      <p:regular r:id="rId28"/>
      <p:bold r:id="rId29"/>
    </p:embeddedFont>
    <p:embeddedFont>
      <p:font typeface="Commissioner"/>
      <p:regular r:id="rId30"/>
      <p:bold r:id="rId31"/>
    </p:embeddedFont>
    <p:embeddedFont>
      <p:font typeface="Golos Text SemiBold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4B6192C-FCB5-4E8F-8713-6B1C9BEB18BB}">
  <a:tblStyle styleId="{34B6192C-FCB5-4E8F-8713-6B1C9BEB18B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GolosText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GolosTex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Commissioner-bold.fntdata"/><Relationship Id="rId30" Type="http://schemas.openxmlformats.org/officeDocument/2006/relationships/font" Target="fonts/Commissioner-regular.fntdata"/><Relationship Id="rId11" Type="http://schemas.openxmlformats.org/officeDocument/2006/relationships/slide" Target="slides/slide6.xml"/><Relationship Id="rId33" Type="http://schemas.openxmlformats.org/officeDocument/2006/relationships/font" Target="fonts/GolosTextSemiBold-bold.fntdata"/><Relationship Id="rId10" Type="http://schemas.openxmlformats.org/officeDocument/2006/relationships/slide" Target="slides/slide5.xml"/><Relationship Id="rId32" Type="http://schemas.openxmlformats.org/officeDocument/2006/relationships/font" Target="fonts/GolosTextSemiBold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747bfd1ede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747bfd1ede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747bfd1ede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2747bfd1ede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336d459b9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336d459b9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3b627a129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13b627a129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143df0acb8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143df0acb8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75584fc2f6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75584fc2f6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7fe0e222d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7fe0e222d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7fe0e222d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7fe0e222d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7fe0e222d6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7fe0e222d6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type of sensors has been used and how it used?</a:t>
            </a:r>
            <a:br>
              <a:rPr lang="en"/>
            </a:br>
            <a:br>
              <a:rPr lang="en"/>
            </a:br>
            <a:r>
              <a:rPr lang="en"/>
              <a:t>Microphones, Youtube clips, Facial tracker </a:t>
            </a:r>
            <a:br>
              <a:rPr lang="en"/>
            </a:b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7ffd8a5d84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7ffd8a5d84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9e00de065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9e00de065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9e00de065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9e00de065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9e00de065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9e00de065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9e00de065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9e00de065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9e00de065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9e00de065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(</a:t>
            </a:r>
            <a:r>
              <a:rPr lang="en">
                <a:solidFill>
                  <a:schemeClr val="dk1"/>
                </a:solidFill>
              </a:rPr>
              <a:t>capture </a:t>
            </a:r>
            <a:r>
              <a:rPr b="1" lang="en">
                <a:solidFill>
                  <a:schemeClr val="dk1"/>
                </a:solidFill>
              </a:rPr>
              <a:t>micro-temporal patterns</a:t>
            </a:r>
            <a:r>
              <a:rPr lang="en">
                <a:solidFill>
                  <a:schemeClr val="dk1"/>
                </a:solidFill>
              </a:rPr>
              <a:t> (repeated onsets, blocks, filler bursts) that Whisper’s coarse frame stride misses.) 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Outputs </a:t>
            </a:r>
            <a:r>
              <a:rPr b="1" lang="en">
                <a:solidFill>
                  <a:schemeClr val="dk1"/>
                </a:solidFill>
              </a:rPr>
              <a:t>frame-level logits</a:t>
            </a:r>
            <a:r>
              <a:rPr lang="en">
                <a:solidFill>
                  <a:schemeClr val="dk1"/>
                </a:solidFill>
              </a:rPr>
              <a:t> over subword tokens + a disfluency gate gt∈[0,1]gt​∈[0,1] that estimates whether to keep or delay the token.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Produces smoother, </a:t>
            </a:r>
            <a:r>
              <a:rPr b="1" lang="en">
                <a:solidFill>
                  <a:schemeClr val="dk1"/>
                </a:solidFill>
              </a:rPr>
              <a:t>frame-aligned confidence scores</a:t>
            </a:r>
            <a:r>
              <a:rPr lang="en">
                <a:solidFill>
                  <a:schemeClr val="dk1"/>
                </a:solidFill>
              </a:rPr>
              <a:t>, allowing earlier token emission and fewer dropped repetitions -&gt; Confidence Refinement Layer</a:t>
            </a:r>
            <a:br>
              <a:rPr lang="en">
                <a:solidFill>
                  <a:schemeClr val="dk1"/>
                </a:solidFill>
              </a:rPr>
            </a:b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9e00de065e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9e00de065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HeardAI Dataset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9e00de065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9e00de065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7ffd8a5d8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7ffd8a5d8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7ffd8a5d84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7ffd8a5d84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Diarization Error Rate = (Missed speech (MS)+False alarm (FA)+Speaker confusion (SC) )/ Total reference speech</a:t>
            </a:r>
            <a:br>
              <a:rPr b="1" lang="en">
                <a:solidFill>
                  <a:schemeClr val="dk1"/>
                </a:solidFill>
              </a:rPr>
            </a:br>
            <a:br>
              <a:rPr b="1" lang="en">
                <a:solidFill>
                  <a:schemeClr val="dk1"/>
                </a:solidFill>
              </a:rPr>
            </a:br>
            <a:r>
              <a:rPr b="1" lang="en">
                <a:solidFill>
                  <a:schemeClr val="dk1"/>
                </a:solidFill>
              </a:rPr>
              <a:t>false alarm (FA)</a:t>
            </a:r>
            <a:r>
              <a:rPr lang="en">
                <a:solidFill>
                  <a:schemeClr val="dk1"/>
                </a:solidFill>
              </a:rPr>
              <a:t> is the time your system </a:t>
            </a:r>
            <a:r>
              <a:rPr b="1" lang="en">
                <a:solidFill>
                  <a:schemeClr val="dk1"/>
                </a:solidFill>
              </a:rPr>
              <a:t>claims there is speech when the reference says there is none</a:t>
            </a:r>
            <a:br>
              <a:rPr b="1" lang="en">
                <a:solidFill>
                  <a:schemeClr val="dk1"/>
                </a:solidFill>
              </a:rPr>
            </a:br>
            <a:r>
              <a:rPr b="1" lang="en">
                <a:solidFill>
                  <a:schemeClr val="dk1"/>
                </a:solidFill>
              </a:rPr>
              <a:t>Missed Speech(MS) -&gt; Expected vs output</a:t>
            </a:r>
            <a:br>
              <a:rPr b="1" lang="en">
                <a:solidFill>
                  <a:schemeClr val="dk1"/>
                </a:solidFill>
              </a:rPr>
            </a:br>
            <a:r>
              <a:rPr b="1" lang="en">
                <a:solidFill>
                  <a:schemeClr val="dk1"/>
                </a:solidFill>
              </a:rPr>
              <a:t>Speaker Confusion(SC) -&gt;  </a:t>
            </a:r>
            <a:br>
              <a:rPr b="1" lang="en">
                <a:solidFill>
                  <a:schemeClr val="dk1"/>
                </a:solidFill>
              </a:rPr>
            </a:b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Normalized per speaker.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Focuses on </a:t>
            </a:r>
            <a:r>
              <a:rPr b="1" lang="en">
                <a:solidFill>
                  <a:schemeClr val="dk1"/>
                </a:solidFill>
              </a:rPr>
              <a:t>overlap quality</a:t>
            </a:r>
            <a:r>
              <a:rPr lang="en">
                <a:solidFill>
                  <a:schemeClr val="dk1"/>
                </a:solidFill>
              </a:rPr>
              <a:t> rather than raw duration error.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9e182c4670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9e182c4670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13e1fc50fc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13e1fc50fc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131ff7c0f5b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131ff7c0f5b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s://freepik.com/" TargetMode="External"/><Relationship Id="rId4" Type="http://schemas.openxmlformats.org/officeDocument/2006/relationships/hyperlink" Target="https://freepik.com/" TargetMode="Externa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225" y="1014550"/>
            <a:ext cx="5602200" cy="221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700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2pPr>
            <a:lvl3pPr lvl="2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3pPr>
            <a:lvl4pPr lvl="3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4pPr>
            <a:lvl5pPr lvl="4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5pPr>
            <a:lvl6pPr lvl="5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6pPr>
            <a:lvl7pPr lvl="6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7pPr>
            <a:lvl8pPr lvl="7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8pPr>
            <a:lvl9pPr lvl="8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3225" y="3315975"/>
            <a:ext cx="5602200" cy="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55375" y="539500"/>
            <a:ext cx="9199350" cy="4604000"/>
            <a:chOff x="-55375" y="539500"/>
            <a:chExt cx="9199350" cy="4604000"/>
          </a:xfrm>
        </p:grpSpPr>
        <p:cxnSp>
          <p:nvCxnSpPr>
            <p:cNvPr id="13" name="Google Shape;13;p2"/>
            <p:cNvCxnSpPr/>
            <p:nvPr/>
          </p:nvCxnSpPr>
          <p:spPr>
            <a:xfrm>
              <a:off x="-55375" y="4608575"/>
              <a:ext cx="4870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>
              <a:off x="4751675" y="539500"/>
              <a:ext cx="4392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" name="Google Shape;15;p2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1512075" y="2036300"/>
            <a:ext cx="49449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500"/>
              <a:buNone/>
              <a:defRPr sz="4200"/>
            </a:lvl1pPr>
            <a:lvl2pPr lvl="1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8" name="Google Shape;18;p3"/>
          <p:cNvSpPr txBox="1"/>
          <p:nvPr>
            <p:ph hasCustomPrompt="1" idx="2" type="title"/>
          </p:nvPr>
        </p:nvSpPr>
        <p:spPr>
          <a:xfrm>
            <a:off x="1512075" y="1012500"/>
            <a:ext cx="1076100" cy="87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53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512075" y="3573275"/>
            <a:ext cx="4944900" cy="6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20" name="Google Shape;20;p3"/>
          <p:cNvSpPr/>
          <p:nvPr/>
        </p:nvSpPr>
        <p:spPr>
          <a:xfrm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" name="Google Shape;21;p3"/>
          <p:cNvCxnSpPr/>
          <p:nvPr/>
        </p:nvCxnSpPr>
        <p:spPr>
          <a:xfrm>
            <a:off x="4273200" y="4876025"/>
            <a:ext cx="4870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713250" y="1217050"/>
            <a:ext cx="7717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/>
          <p:nvPr/>
        </p:nvSpPr>
        <p:spPr>
          <a:xfrm flipH="1">
            <a:off x="0" y="0"/>
            <a:ext cx="91440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" name="Google Shape;26;p4"/>
          <p:cNvGrpSpPr/>
          <p:nvPr/>
        </p:nvGrpSpPr>
        <p:grpSpPr>
          <a:xfrm>
            <a:off x="150" y="0"/>
            <a:ext cx="8860050" cy="4876025"/>
            <a:chOff x="150" y="0"/>
            <a:chExt cx="8860050" cy="4876025"/>
          </a:xfrm>
        </p:grpSpPr>
        <p:cxnSp>
          <p:nvCxnSpPr>
            <p:cNvPr id="27" name="Google Shape;27;p4"/>
            <p:cNvCxnSpPr/>
            <p:nvPr/>
          </p:nvCxnSpPr>
          <p:spPr>
            <a:xfrm>
              <a:off x="8860200" y="0"/>
              <a:ext cx="0" cy="257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" name="Google Shape;28;p4"/>
            <p:cNvCxnSpPr/>
            <p:nvPr/>
          </p:nvCxnSpPr>
          <p:spPr>
            <a:xfrm rot="10800000">
              <a:off x="150" y="4876025"/>
              <a:ext cx="8444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subTitle"/>
          </p:nvPr>
        </p:nvSpPr>
        <p:spPr>
          <a:xfrm>
            <a:off x="2954672" y="2027976"/>
            <a:ext cx="43122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subTitle"/>
          </p:nvPr>
        </p:nvSpPr>
        <p:spPr>
          <a:xfrm>
            <a:off x="2954672" y="1519425"/>
            <a:ext cx="43122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3" type="subTitle"/>
          </p:nvPr>
        </p:nvSpPr>
        <p:spPr>
          <a:xfrm>
            <a:off x="2954649" y="3619500"/>
            <a:ext cx="43122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4" type="subTitle"/>
          </p:nvPr>
        </p:nvSpPr>
        <p:spPr>
          <a:xfrm>
            <a:off x="2954649" y="3110949"/>
            <a:ext cx="43122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35" name="Google Shape;35;p5"/>
          <p:cNvSpPr/>
          <p:nvPr/>
        </p:nvSpPr>
        <p:spPr>
          <a:xfrm flipH="1">
            <a:off x="0" y="0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" name="Google Shape;36;p5"/>
          <p:cNvCxnSpPr/>
          <p:nvPr/>
        </p:nvCxnSpPr>
        <p:spPr>
          <a:xfrm rot="10800000">
            <a:off x="8864825" y="0"/>
            <a:ext cx="0" cy="413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39" name="Google Shape;39;p6"/>
          <p:cNvSpPr/>
          <p:nvPr/>
        </p:nvSpPr>
        <p:spPr>
          <a:xfrm>
            <a:off x="0" y="0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" name="Google Shape;40;p6"/>
          <p:cNvGrpSpPr/>
          <p:nvPr/>
        </p:nvGrpSpPr>
        <p:grpSpPr>
          <a:xfrm>
            <a:off x="141900" y="-26"/>
            <a:ext cx="9002025" cy="4876051"/>
            <a:chOff x="141900" y="-26"/>
            <a:chExt cx="9002025" cy="4876051"/>
          </a:xfrm>
        </p:grpSpPr>
        <p:cxnSp>
          <p:nvCxnSpPr>
            <p:cNvPr id="41" name="Google Shape;41;p6"/>
            <p:cNvCxnSpPr/>
            <p:nvPr/>
          </p:nvCxnSpPr>
          <p:spPr>
            <a:xfrm>
              <a:off x="4576425" y="4876025"/>
              <a:ext cx="4567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" name="Google Shape;42;p6"/>
            <p:cNvCxnSpPr/>
            <p:nvPr/>
          </p:nvCxnSpPr>
          <p:spPr>
            <a:xfrm rot="10800000">
              <a:off x="141900" y="-26"/>
              <a:ext cx="0" cy="3958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713225" y="519075"/>
            <a:ext cx="2789700" cy="197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" type="subTitle"/>
          </p:nvPr>
        </p:nvSpPr>
        <p:spPr>
          <a:xfrm>
            <a:off x="713225" y="2558881"/>
            <a:ext cx="2789700" cy="13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/>
          <p:nvPr>
            <p:ph idx="2" type="pic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7"/>
          <p:cNvSpPr/>
          <p:nvPr/>
        </p:nvSpPr>
        <p:spPr>
          <a:xfrm>
            <a:off x="0" y="0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" name="Google Shape;48;p7"/>
          <p:cNvGrpSpPr/>
          <p:nvPr/>
        </p:nvGrpSpPr>
        <p:grpSpPr>
          <a:xfrm>
            <a:off x="0" y="-300"/>
            <a:ext cx="3812275" cy="4608875"/>
            <a:chOff x="0" y="-300"/>
            <a:chExt cx="3812275" cy="4608875"/>
          </a:xfrm>
        </p:grpSpPr>
        <p:cxnSp>
          <p:nvCxnSpPr>
            <p:cNvPr id="49" name="Google Shape;49;p7"/>
            <p:cNvCxnSpPr/>
            <p:nvPr/>
          </p:nvCxnSpPr>
          <p:spPr>
            <a:xfrm rot="10800000">
              <a:off x="3812275" y="-300"/>
              <a:ext cx="0" cy="699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" name="Google Shape;50;p7"/>
            <p:cNvCxnSpPr/>
            <p:nvPr/>
          </p:nvCxnSpPr>
          <p:spPr>
            <a:xfrm>
              <a:off x="0" y="4608575"/>
              <a:ext cx="3387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1864800" y="1219025"/>
            <a:ext cx="5414400" cy="22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53" name="Google Shape;53;p8"/>
          <p:cNvSpPr/>
          <p:nvPr/>
        </p:nvSpPr>
        <p:spPr>
          <a:xfrm flipH="1">
            <a:off x="-55375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" name="Google Shape;54;p8"/>
          <p:cNvGrpSpPr/>
          <p:nvPr/>
        </p:nvGrpSpPr>
        <p:grpSpPr>
          <a:xfrm flipH="1">
            <a:off x="-55200" y="539500"/>
            <a:ext cx="9199200" cy="4604000"/>
            <a:chOff x="-55375" y="539500"/>
            <a:chExt cx="9199200" cy="4604000"/>
          </a:xfrm>
        </p:grpSpPr>
        <p:cxnSp>
          <p:nvCxnSpPr>
            <p:cNvPr id="55" name="Google Shape;55;p8"/>
            <p:cNvCxnSpPr/>
            <p:nvPr/>
          </p:nvCxnSpPr>
          <p:spPr>
            <a:xfrm>
              <a:off x="-55375" y="4608575"/>
              <a:ext cx="5659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" name="Google Shape;56;p8"/>
            <p:cNvCxnSpPr/>
            <p:nvPr/>
          </p:nvCxnSpPr>
          <p:spPr>
            <a:xfrm>
              <a:off x="4502525" y="539500"/>
              <a:ext cx="4641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" name="Google Shape;57;p8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1962900" y="829786"/>
            <a:ext cx="5218200" cy="133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60" name="Google Shape;60;p9"/>
          <p:cNvSpPr txBox="1"/>
          <p:nvPr>
            <p:ph idx="1" type="subTitle"/>
          </p:nvPr>
        </p:nvSpPr>
        <p:spPr>
          <a:xfrm>
            <a:off x="1962900" y="2282714"/>
            <a:ext cx="5218200" cy="20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61" name="Google Shape;61;p9"/>
          <p:cNvSpPr/>
          <p:nvPr/>
        </p:nvSpPr>
        <p:spPr>
          <a:xfrm>
            <a:off x="75" y="4426700"/>
            <a:ext cx="9144000" cy="711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" name="Google Shape;62;p9"/>
          <p:cNvGrpSpPr/>
          <p:nvPr/>
        </p:nvGrpSpPr>
        <p:grpSpPr>
          <a:xfrm>
            <a:off x="712700" y="539500"/>
            <a:ext cx="8431300" cy="4604000"/>
            <a:chOff x="712700" y="539500"/>
            <a:chExt cx="8431300" cy="4604000"/>
          </a:xfrm>
        </p:grpSpPr>
        <p:cxnSp>
          <p:nvCxnSpPr>
            <p:cNvPr id="63" name="Google Shape;63;p9"/>
            <p:cNvCxnSpPr/>
            <p:nvPr/>
          </p:nvCxnSpPr>
          <p:spPr>
            <a:xfrm>
              <a:off x="4572000" y="539500"/>
              <a:ext cx="4572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" name="Google Shape;64;p9"/>
            <p:cNvCxnSpPr/>
            <p:nvPr/>
          </p:nvCxnSpPr>
          <p:spPr>
            <a:xfrm rot="10800000">
              <a:off x="712700" y="1685400"/>
              <a:ext cx="0" cy="3458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/>
          <p:nvPr>
            <p:ph type="title"/>
          </p:nvPr>
        </p:nvSpPr>
        <p:spPr>
          <a:xfrm>
            <a:off x="713225" y="3946875"/>
            <a:ext cx="77175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hasCustomPrompt="1" type="title"/>
          </p:nvPr>
        </p:nvSpPr>
        <p:spPr>
          <a:xfrm>
            <a:off x="1604400" y="1354558"/>
            <a:ext cx="5935200" cy="184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7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9pPr>
          </a:lstStyle>
          <a:p>
            <a:r>
              <a:t>xx%</a:t>
            </a:r>
          </a:p>
        </p:txBody>
      </p:sp>
      <p:sp>
        <p:nvSpPr>
          <p:cNvPr id="70" name="Google Shape;70;p11"/>
          <p:cNvSpPr txBox="1"/>
          <p:nvPr>
            <p:ph idx="1" type="subTitle"/>
          </p:nvPr>
        </p:nvSpPr>
        <p:spPr>
          <a:xfrm>
            <a:off x="1604400" y="3199142"/>
            <a:ext cx="5935200" cy="5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71" name="Google Shape;71;p11"/>
          <p:cNvSpPr/>
          <p:nvPr/>
        </p:nvSpPr>
        <p:spPr>
          <a:xfrm rot="10800000">
            <a:off x="-55375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" name="Google Shape;72;p11"/>
          <p:cNvGrpSpPr/>
          <p:nvPr/>
        </p:nvGrpSpPr>
        <p:grpSpPr>
          <a:xfrm rot="10800000">
            <a:off x="-55325" y="0"/>
            <a:ext cx="9199325" cy="4604000"/>
            <a:chOff x="-55375" y="539500"/>
            <a:chExt cx="9199325" cy="4604000"/>
          </a:xfrm>
        </p:grpSpPr>
        <p:cxnSp>
          <p:nvCxnSpPr>
            <p:cNvPr id="73" name="Google Shape;73;p11"/>
            <p:cNvCxnSpPr/>
            <p:nvPr/>
          </p:nvCxnSpPr>
          <p:spPr>
            <a:xfrm>
              <a:off x="-55375" y="4608575"/>
              <a:ext cx="4563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" name="Google Shape;74;p11"/>
            <p:cNvCxnSpPr/>
            <p:nvPr/>
          </p:nvCxnSpPr>
          <p:spPr>
            <a:xfrm>
              <a:off x="2576350" y="539500"/>
              <a:ext cx="6567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" name="Google Shape;75;p11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" type="subTitle"/>
          </p:nvPr>
        </p:nvSpPr>
        <p:spPr>
          <a:xfrm>
            <a:off x="1936100" y="2129352"/>
            <a:ext cx="22887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2" type="subTitle"/>
          </p:nvPr>
        </p:nvSpPr>
        <p:spPr>
          <a:xfrm>
            <a:off x="1936100" y="1370275"/>
            <a:ext cx="2288700" cy="8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81" name="Google Shape;81;p13"/>
          <p:cNvSpPr txBox="1"/>
          <p:nvPr>
            <p:ph hasCustomPrompt="1" idx="3" type="title"/>
          </p:nvPr>
        </p:nvSpPr>
        <p:spPr>
          <a:xfrm>
            <a:off x="993600" y="1483400"/>
            <a:ext cx="876300" cy="1152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/>
          <p:nvPr>
            <p:ph idx="4" type="subTitle"/>
          </p:nvPr>
        </p:nvSpPr>
        <p:spPr>
          <a:xfrm>
            <a:off x="1936100" y="3827175"/>
            <a:ext cx="22887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5" type="subTitle"/>
          </p:nvPr>
        </p:nvSpPr>
        <p:spPr>
          <a:xfrm>
            <a:off x="1936100" y="3068200"/>
            <a:ext cx="2288700" cy="8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hasCustomPrompt="1" idx="6" type="title"/>
          </p:nvPr>
        </p:nvSpPr>
        <p:spPr>
          <a:xfrm>
            <a:off x="993600" y="3179712"/>
            <a:ext cx="876300" cy="1152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/>
          <p:nvPr>
            <p:ph idx="7" type="subTitle"/>
          </p:nvPr>
        </p:nvSpPr>
        <p:spPr>
          <a:xfrm>
            <a:off x="5969570" y="2129352"/>
            <a:ext cx="22887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8" type="subTitle"/>
          </p:nvPr>
        </p:nvSpPr>
        <p:spPr>
          <a:xfrm>
            <a:off x="5969570" y="1370275"/>
            <a:ext cx="2288700" cy="8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hasCustomPrompt="1" idx="9" type="title"/>
          </p:nvPr>
        </p:nvSpPr>
        <p:spPr>
          <a:xfrm>
            <a:off x="5033780" y="1483400"/>
            <a:ext cx="876300" cy="1152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/>
          <p:nvPr>
            <p:ph idx="13" type="subTitle"/>
          </p:nvPr>
        </p:nvSpPr>
        <p:spPr>
          <a:xfrm>
            <a:off x="5969570" y="3827175"/>
            <a:ext cx="22887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14" type="subTitle"/>
          </p:nvPr>
        </p:nvSpPr>
        <p:spPr>
          <a:xfrm>
            <a:off x="5969570" y="3068200"/>
            <a:ext cx="2288700" cy="8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90" name="Google Shape;90;p13"/>
          <p:cNvSpPr txBox="1"/>
          <p:nvPr>
            <p:ph hasCustomPrompt="1" idx="15" type="title"/>
          </p:nvPr>
        </p:nvSpPr>
        <p:spPr>
          <a:xfrm>
            <a:off x="5033780" y="3179712"/>
            <a:ext cx="876300" cy="1152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cxnSp>
        <p:nvCxnSpPr>
          <p:cNvPr id="91" name="Google Shape;91;p13"/>
          <p:cNvCxnSpPr/>
          <p:nvPr/>
        </p:nvCxnSpPr>
        <p:spPr>
          <a:xfrm rot="10800000">
            <a:off x="9002100" y="-100"/>
            <a:ext cx="0" cy="265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83150" y="3920175"/>
            <a:ext cx="7577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4" name="Google Shape;94;p14"/>
          <p:cNvSpPr txBox="1"/>
          <p:nvPr>
            <p:ph idx="1" type="subTitle"/>
          </p:nvPr>
        </p:nvSpPr>
        <p:spPr>
          <a:xfrm>
            <a:off x="783150" y="1722374"/>
            <a:ext cx="7577700" cy="212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1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cxnSp>
        <p:nvCxnSpPr>
          <p:cNvPr id="95" name="Google Shape;95;p14"/>
          <p:cNvCxnSpPr/>
          <p:nvPr/>
        </p:nvCxnSpPr>
        <p:spPr>
          <a:xfrm rot="10800000">
            <a:off x="75" y="4876025"/>
            <a:ext cx="82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 flipH="1">
            <a:off x="2052825" y="2036300"/>
            <a:ext cx="55791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98" name="Google Shape;98;p15"/>
          <p:cNvSpPr txBox="1"/>
          <p:nvPr>
            <p:ph hasCustomPrompt="1" idx="2" type="title"/>
          </p:nvPr>
        </p:nvSpPr>
        <p:spPr>
          <a:xfrm flipH="1">
            <a:off x="6555825" y="1012500"/>
            <a:ext cx="1076100" cy="87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3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t>xx%</a:t>
            </a:r>
          </a:p>
        </p:txBody>
      </p:sp>
      <p:sp>
        <p:nvSpPr>
          <p:cNvPr id="99" name="Google Shape;99;p15"/>
          <p:cNvSpPr txBox="1"/>
          <p:nvPr>
            <p:ph idx="1" type="subTitle"/>
          </p:nvPr>
        </p:nvSpPr>
        <p:spPr>
          <a:xfrm flipH="1">
            <a:off x="2052825" y="3573275"/>
            <a:ext cx="5579100" cy="6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100" name="Google Shape;100;p15"/>
          <p:cNvSpPr/>
          <p:nvPr/>
        </p:nvSpPr>
        <p:spPr>
          <a:xfrm flipH="1">
            <a:off x="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1" name="Google Shape;101;p15"/>
          <p:cNvCxnSpPr/>
          <p:nvPr/>
        </p:nvCxnSpPr>
        <p:spPr>
          <a:xfrm rot="10800000">
            <a:off x="0" y="4876025"/>
            <a:ext cx="4870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2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idx="1" type="subTitle"/>
          </p:nvPr>
        </p:nvSpPr>
        <p:spPr>
          <a:xfrm>
            <a:off x="713225" y="3582477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6"/>
          <p:cNvSpPr txBox="1"/>
          <p:nvPr>
            <p:ph hasCustomPrompt="1" idx="2" type="title"/>
          </p:nvPr>
        </p:nvSpPr>
        <p:spPr>
          <a:xfrm>
            <a:off x="713225" y="1575103"/>
            <a:ext cx="2400300" cy="80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6" name="Google Shape;106;p16"/>
          <p:cNvSpPr txBox="1"/>
          <p:nvPr>
            <p:ph idx="3" type="subTitle"/>
          </p:nvPr>
        </p:nvSpPr>
        <p:spPr>
          <a:xfrm>
            <a:off x="713225" y="2654575"/>
            <a:ext cx="24003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107" name="Google Shape;107;p16"/>
          <p:cNvSpPr txBox="1"/>
          <p:nvPr>
            <p:ph idx="4" type="subTitle"/>
          </p:nvPr>
        </p:nvSpPr>
        <p:spPr>
          <a:xfrm>
            <a:off x="6030475" y="3582477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6"/>
          <p:cNvSpPr txBox="1"/>
          <p:nvPr>
            <p:ph hasCustomPrompt="1" idx="5" type="title"/>
          </p:nvPr>
        </p:nvSpPr>
        <p:spPr>
          <a:xfrm>
            <a:off x="6030475" y="1575103"/>
            <a:ext cx="2400300" cy="80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9" name="Google Shape;109;p16"/>
          <p:cNvSpPr txBox="1"/>
          <p:nvPr>
            <p:ph idx="6" type="subTitle"/>
          </p:nvPr>
        </p:nvSpPr>
        <p:spPr>
          <a:xfrm>
            <a:off x="6030475" y="2654575"/>
            <a:ext cx="24003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110" name="Google Shape;110;p16"/>
          <p:cNvSpPr txBox="1"/>
          <p:nvPr>
            <p:ph idx="7" type="subTitle"/>
          </p:nvPr>
        </p:nvSpPr>
        <p:spPr>
          <a:xfrm>
            <a:off x="3371850" y="3582477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6"/>
          <p:cNvSpPr txBox="1"/>
          <p:nvPr>
            <p:ph hasCustomPrompt="1" idx="8" type="title"/>
          </p:nvPr>
        </p:nvSpPr>
        <p:spPr>
          <a:xfrm>
            <a:off x="3371850" y="1575103"/>
            <a:ext cx="2400300" cy="80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2" name="Google Shape;112;p16"/>
          <p:cNvSpPr txBox="1"/>
          <p:nvPr>
            <p:ph idx="9" type="subTitle"/>
          </p:nvPr>
        </p:nvSpPr>
        <p:spPr>
          <a:xfrm>
            <a:off x="3371850" y="2654575"/>
            <a:ext cx="24003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cxnSp>
        <p:nvCxnSpPr>
          <p:cNvPr id="113" name="Google Shape;113;p16"/>
          <p:cNvCxnSpPr/>
          <p:nvPr/>
        </p:nvCxnSpPr>
        <p:spPr>
          <a:xfrm rot="10800000">
            <a:off x="5035800" y="4797575"/>
            <a:ext cx="410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2_1_2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idx="1" type="subTitle"/>
          </p:nvPr>
        </p:nvSpPr>
        <p:spPr>
          <a:xfrm>
            <a:off x="2370900" y="1278125"/>
            <a:ext cx="44022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7"/>
          <p:cNvSpPr txBox="1"/>
          <p:nvPr>
            <p:ph hasCustomPrompt="1" type="title"/>
          </p:nvPr>
        </p:nvSpPr>
        <p:spPr>
          <a:xfrm>
            <a:off x="2370900" y="572825"/>
            <a:ext cx="4402200" cy="73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7" name="Google Shape;117;p17"/>
          <p:cNvSpPr txBox="1"/>
          <p:nvPr>
            <p:ph idx="2" type="subTitle"/>
          </p:nvPr>
        </p:nvSpPr>
        <p:spPr>
          <a:xfrm>
            <a:off x="2370900" y="4087875"/>
            <a:ext cx="44022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7"/>
          <p:cNvSpPr txBox="1"/>
          <p:nvPr>
            <p:ph hasCustomPrompt="1" idx="3" type="title"/>
          </p:nvPr>
        </p:nvSpPr>
        <p:spPr>
          <a:xfrm>
            <a:off x="2370900" y="3382575"/>
            <a:ext cx="4402200" cy="73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9" name="Google Shape;119;p17"/>
          <p:cNvSpPr txBox="1"/>
          <p:nvPr>
            <p:ph idx="4" type="subTitle"/>
          </p:nvPr>
        </p:nvSpPr>
        <p:spPr>
          <a:xfrm>
            <a:off x="2370900" y="2683000"/>
            <a:ext cx="44022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7"/>
          <p:cNvSpPr txBox="1"/>
          <p:nvPr>
            <p:ph hasCustomPrompt="1" idx="5" type="title"/>
          </p:nvPr>
        </p:nvSpPr>
        <p:spPr>
          <a:xfrm>
            <a:off x="2370900" y="1977700"/>
            <a:ext cx="4402200" cy="73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121" name="Google Shape;121;p17"/>
          <p:cNvGrpSpPr/>
          <p:nvPr/>
        </p:nvGrpSpPr>
        <p:grpSpPr>
          <a:xfrm>
            <a:off x="711250" y="-125"/>
            <a:ext cx="7719525" cy="5143625"/>
            <a:chOff x="711250" y="-125"/>
            <a:chExt cx="7719525" cy="5143625"/>
          </a:xfrm>
        </p:grpSpPr>
        <p:cxnSp>
          <p:nvCxnSpPr>
            <p:cNvPr id="122" name="Google Shape;122;p17"/>
            <p:cNvCxnSpPr/>
            <p:nvPr/>
          </p:nvCxnSpPr>
          <p:spPr>
            <a:xfrm rot="10800000">
              <a:off x="711250" y="2191500"/>
              <a:ext cx="0" cy="295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" name="Google Shape;123;p17"/>
            <p:cNvCxnSpPr/>
            <p:nvPr/>
          </p:nvCxnSpPr>
          <p:spPr>
            <a:xfrm rot="10800000">
              <a:off x="8430775" y="-125"/>
              <a:ext cx="0" cy="2191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2_1_1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grpSp>
        <p:nvGrpSpPr>
          <p:cNvPr id="126" name="Google Shape;126;p18"/>
          <p:cNvGrpSpPr/>
          <p:nvPr/>
        </p:nvGrpSpPr>
        <p:grpSpPr>
          <a:xfrm flipH="1">
            <a:off x="0" y="4876025"/>
            <a:ext cx="9144000" cy="267600"/>
            <a:chOff x="0" y="4876025"/>
            <a:chExt cx="9144000" cy="267600"/>
          </a:xfrm>
        </p:grpSpPr>
        <p:sp>
          <p:nvSpPr>
            <p:cNvPr id="127" name="Google Shape;127;p18"/>
            <p:cNvSpPr/>
            <p:nvPr/>
          </p:nvSpPr>
          <p:spPr>
            <a:xfrm>
              <a:off x="0" y="4876025"/>
              <a:ext cx="9144000" cy="267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8" name="Google Shape;128;p18"/>
            <p:cNvCxnSpPr/>
            <p:nvPr/>
          </p:nvCxnSpPr>
          <p:spPr>
            <a:xfrm>
              <a:off x="4572000" y="5009825"/>
              <a:ext cx="4572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2_1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cxnSp>
        <p:nvCxnSpPr>
          <p:cNvPr id="131" name="Google Shape;131;p19"/>
          <p:cNvCxnSpPr/>
          <p:nvPr/>
        </p:nvCxnSpPr>
        <p:spPr>
          <a:xfrm>
            <a:off x="0" y="262400"/>
            <a:ext cx="228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2_1_1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20"/>
          <p:cNvGrpSpPr/>
          <p:nvPr/>
        </p:nvGrpSpPr>
        <p:grpSpPr>
          <a:xfrm>
            <a:off x="0" y="0"/>
            <a:ext cx="9144075" cy="5143500"/>
            <a:chOff x="0" y="0"/>
            <a:chExt cx="9144075" cy="5143500"/>
          </a:xfrm>
        </p:grpSpPr>
        <p:sp>
          <p:nvSpPr>
            <p:cNvPr id="134" name="Google Shape;134;p20"/>
            <p:cNvSpPr/>
            <p:nvPr/>
          </p:nvSpPr>
          <p:spPr>
            <a:xfrm>
              <a:off x="4185975" y="4426700"/>
              <a:ext cx="4958100" cy="711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0"/>
            <p:cNvSpPr/>
            <p:nvPr/>
          </p:nvSpPr>
          <p:spPr>
            <a:xfrm>
              <a:off x="0" y="0"/>
              <a:ext cx="852900" cy="5143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" name="Google Shape;136;p20"/>
          <p:cNvSpPr txBox="1"/>
          <p:nvPr>
            <p:ph type="title"/>
          </p:nvPr>
        </p:nvSpPr>
        <p:spPr>
          <a:xfrm>
            <a:off x="4082225" y="544275"/>
            <a:ext cx="4224300" cy="120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92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2pPr>
            <a:lvl3pPr lvl="2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3pPr>
            <a:lvl4pPr lvl="3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4pPr>
            <a:lvl5pPr lvl="4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5pPr>
            <a:lvl6pPr lvl="5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6pPr>
            <a:lvl7pPr lvl="6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7pPr>
            <a:lvl8pPr lvl="7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8pPr>
            <a:lvl9pPr lvl="8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9pPr>
          </a:lstStyle>
          <a:p/>
        </p:txBody>
      </p:sp>
      <p:sp>
        <p:nvSpPr>
          <p:cNvPr id="137" name="Google Shape;137;p20"/>
          <p:cNvSpPr txBox="1"/>
          <p:nvPr>
            <p:ph idx="1" type="subTitle"/>
          </p:nvPr>
        </p:nvSpPr>
        <p:spPr>
          <a:xfrm>
            <a:off x="4082150" y="1747875"/>
            <a:ext cx="4224300" cy="25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grpSp>
        <p:nvGrpSpPr>
          <p:cNvPr id="138" name="Google Shape;138;p20"/>
          <p:cNvGrpSpPr/>
          <p:nvPr/>
        </p:nvGrpSpPr>
        <p:grpSpPr>
          <a:xfrm>
            <a:off x="150" y="539500"/>
            <a:ext cx="8430625" cy="4604000"/>
            <a:chOff x="150" y="539500"/>
            <a:chExt cx="8430625" cy="4604000"/>
          </a:xfrm>
        </p:grpSpPr>
        <p:cxnSp>
          <p:nvCxnSpPr>
            <p:cNvPr id="139" name="Google Shape;139;p20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" name="Google Shape;140;p20"/>
            <p:cNvCxnSpPr/>
            <p:nvPr/>
          </p:nvCxnSpPr>
          <p:spPr>
            <a:xfrm rot="10800000">
              <a:off x="150" y="539500"/>
              <a:ext cx="4336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1" name="Google Shape;141;p20"/>
          <p:cNvSpPr/>
          <p:nvPr>
            <p:ph idx="2" type="pic"/>
          </p:nvPr>
        </p:nvSpPr>
        <p:spPr>
          <a:xfrm>
            <a:off x="592075" y="544275"/>
            <a:ext cx="3312000" cy="3884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1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/>
          <p:nvPr>
            <p:ph idx="1" type="body"/>
          </p:nvPr>
        </p:nvSpPr>
        <p:spPr>
          <a:xfrm>
            <a:off x="1691100" y="1759300"/>
            <a:ext cx="5761800" cy="20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Char char="■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ed Hat Display"/>
              <a:buChar char="■"/>
              <a:defRPr/>
            </a:lvl9pPr>
          </a:lstStyle>
          <a:p/>
        </p:txBody>
      </p:sp>
      <p:sp>
        <p:nvSpPr>
          <p:cNvPr id="144" name="Google Shape;144;p21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45" name="Google Shape;145;p21"/>
          <p:cNvSpPr/>
          <p:nvPr/>
        </p:nvSpPr>
        <p:spPr>
          <a:xfrm flipH="1">
            <a:off x="0" y="4875900"/>
            <a:ext cx="91440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6" name="Google Shape;146;p21"/>
          <p:cNvGrpSpPr/>
          <p:nvPr/>
        </p:nvGrpSpPr>
        <p:grpSpPr>
          <a:xfrm>
            <a:off x="276825" y="267475"/>
            <a:ext cx="8860200" cy="4876025"/>
            <a:chOff x="276825" y="267475"/>
            <a:chExt cx="8860200" cy="4876025"/>
          </a:xfrm>
        </p:grpSpPr>
        <p:cxnSp>
          <p:nvCxnSpPr>
            <p:cNvPr id="147" name="Google Shape;147;p21"/>
            <p:cNvCxnSpPr/>
            <p:nvPr/>
          </p:nvCxnSpPr>
          <p:spPr>
            <a:xfrm rot="10800000">
              <a:off x="276825" y="2571900"/>
              <a:ext cx="0" cy="257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" name="Google Shape;148;p21"/>
            <p:cNvCxnSpPr/>
            <p:nvPr/>
          </p:nvCxnSpPr>
          <p:spPr>
            <a:xfrm>
              <a:off x="4565025" y="267475"/>
              <a:ext cx="4572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2_1_1_1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>
            <p:ph type="title"/>
          </p:nvPr>
        </p:nvSpPr>
        <p:spPr>
          <a:xfrm>
            <a:off x="948325" y="1185562"/>
            <a:ext cx="4863300" cy="80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51" name="Google Shape;151;p22"/>
          <p:cNvSpPr txBox="1"/>
          <p:nvPr>
            <p:ph idx="1" type="subTitle"/>
          </p:nvPr>
        </p:nvSpPr>
        <p:spPr>
          <a:xfrm>
            <a:off x="948325" y="2112038"/>
            <a:ext cx="4863300" cy="18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2" name="Google Shape;152;p22"/>
          <p:cNvSpPr/>
          <p:nvPr/>
        </p:nvSpPr>
        <p:spPr>
          <a:xfrm flipH="1" rot="10800000"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3" name="Google Shape;153;p22"/>
          <p:cNvGrpSpPr/>
          <p:nvPr/>
        </p:nvGrpSpPr>
        <p:grpSpPr>
          <a:xfrm flipH="1" rot="10800000">
            <a:off x="-55375" y="0"/>
            <a:ext cx="9199250" cy="4604000"/>
            <a:chOff x="-55375" y="539500"/>
            <a:chExt cx="9199250" cy="4604000"/>
          </a:xfrm>
        </p:grpSpPr>
        <p:cxnSp>
          <p:nvCxnSpPr>
            <p:cNvPr id="154" name="Google Shape;154;p22"/>
            <p:cNvCxnSpPr/>
            <p:nvPr/>
          </p:nvCxnSpPr>
          <p:spPr>
            <a:xfrm>
              <a:off x="-55375" y="4608575"/>
              <a:ext cx="4571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" name="Google Shape;155;p22"/>
            <p:cNvCxnSpPr/>
            <p:nvPr/>
          </p:nvCxnSpPr>
          <p:spPr>
            <a:xfrm>
              <a:off x="4585075" y="539500"/>
              <a:ext cx="4558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" name="Google Shape;156;p22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2_1_1_1_1_1_1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>
            <p:ph type="title"/>
          </p:nvPr>
        </p:nvSpPr>
        <p:spPr>
          <a:xfrm>
            <a:off x="1262175" y="1023602"/>
            <a:ext cx="2890500" cy="167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59" name="Google Shape;159;p23"/>
          <p:cNvSpPr txBox="1"/>
          <p:nvPr>
            <p:ph idx="1" type="subTitle"/>
          </p:nvPr>
        </p:nvSpPr>
        <p:spPr>
          <a:xfrm>
            <a:off x="1262175" y="2702272"/>
            <a:ext cx="2890500" cy="14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3"/>
          <p:cNvSpPr/>
          <p:nvPr/>
        </p:nvSpPr>
        <p:spPr>
          <a:xfrm rot="10800000">
            <a:off x="125" y="0"/>
            <a:ext cx="7167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1" name="Google Shape;161;p23"/>
          <p:cNvGrpSpPr/>
          <p:nvPr/>
        </p:nvGrpSpPr>
        <p:grpSpPr>
          <a:xfrm rot="10800000">
            <a:off x="0" y="363100"/>
            <a:ext cx="8860200" cy="4780400"/>
            <a:chOff x="283800" y="0"/>
            <a:chExt cx="8860200" cy="4780400"/>
          </a:xfrm>
        </p:grpSpPr>
        <p:cxnSp>
          <p:nvCxnSpPr>
            <p:cNvPr id="162" name="Google Shape;162;p23"/>
            <p:cNvCxnSpPr/>
            <p:nvPr/>
          </p:nvCxnSpPr>
          <p:spPr>
            <a:xfrm>
              <a:off x="4273200" y="4780400"/>
              <a:ext cx="4870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" name="Google Shape;163;p23"/>
            <p:cNvCxnSpPr/>
            <p:nvPr/>
          </p:nvCxnSpPr>
          <p:spPr>
            <a:xfrm rot="10800000">
              <a:off x="283800" y="0"/>
              <a:ext cx="0" cy="413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2_1_1_1_1_1_1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/>
          <p:nvPr>
            <p:ph type="title"/>
          </p:nvPr>
        </p:nvSpPr>
        <p:spPr>
          <a:xfrm>
            <a:off x="4746800" y="1023600"/>
            <a:ext cx="2630100" cy="152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66" name="Google Shape;166;p24"/>
          <p:cNvSpPr txBox="1"/>
          <p:nvPr>
            <p:ph idx="1" type="subTitle"/>
          </p:nvPr>
        </p:nvSpPr>
        <p:spPr>
          <a:xfrm>
            <a:off x="4746800" y="2545055"/>
            <a:ext cx="2630100" cy="15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67" name="Google Shape;167;p24"/>
          <p:cNvGrpSpPr/>
          <p:nvPr/>
        </p:nvGrpSpPr>
        <p:grpSpPr>
          <a:xfrm flipH="1">
            <a:off x="0" y="0"/>
            <a:ext cx="9144075" cy="5143500"/>
            <a:chOff x="0" y="0"/>
            <a:chExt cx="9144075" cy="5143500"/>
          </a:xfrm>
        </p:grpSpPr>
        <p:grpSp>
          <p:nvGrpSpPr>
            <p:cNvPr id="168" name="Google Shape;168;p24"/>
            <p:cNvGrpSpPr/>
            <p:nvPr/>
          </p:nvGrpSpPr>
          <p:grpSpPr>
            <a:xfrm>
              <a:off x="0" y="0"/>
              <a:ext cx="9144075" cy="5143500"/>
              <a:chOff x="0" y="0"/>
              <a:chExt cx="9144075" cy="5143500"/>
            </a:xfrm>
          </p:grpSpPr>
          <p:sp>
            <p:nvSpPr>
              <p:cNvPr id="169" name="Google Shape;169;p24"/>
              <p:cNvSpPr/>
              <p:nvPr/>
            </p:nvSpPr>
            <p:spPr>
              <a:xfrm>
                <a:off x="4185975" y="4608575"/>
                <a:ext cx="4958100" cy="5292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24"/>
              <p:cNvSpPr/>
              <p:nvPr/>
            </p:nvSpPr>
            <p:spPr>
              <a:xfrm>
                <a:off x="0" y="0"/>
                <a:ext cx="852900" cy="5143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1" name="Google Shape;171;p24"/>
            <p:cNvGrpSpPr/>
            <p:nvPr/>
          </p:nvGrpSpPr>
          <p:grpSpPr>
            <a:xfrm>
              <a:off x="150" y="539500"/>
              <a:ext cx="8430625" cy="4604000"/>
              <a:chOff x="150" y="539500"/>
              <a:chExt cx="8430625" cy="4604000"/>
            </a:xfrm>
          </p:grpSpPr>
          <p:cxnSp>
            <p:nvCxnSpPr>
              <p:cNvPr id="172" name="Google Shape;172;p24"/>
              <p:cNvCxnSpPr/>
              <p:nvPr/>
            </p:nvCxnSpPr>
            <p:spPr>
              <a:xfrm rot="10800000">
                <a:off x="8430775" y="805200"/>
                <a:ext cx="0" cy="43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3" name="Google Shape;173;p24"/>
              <p:cNvCxnSpPr/>
              <p:nvPr/>
            </p:nvCxnSpPr>
            <p:spPr>
              <a:xfrm rot="10800000">
                <a:off x="150" y="539500"/>
                <a:ext cx="4336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3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5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76" name="Google Shape;176;p25"/>
          <p:cNvSpPr txBox="1"/>
          <p:nvPr>
            <p:ph idx="1" type="body"/>
          </p:nvPr>
        </p:nvSpPr>
        <p:spPr>
          <a:xfrm>
            <a:off x="713225" y="1682875"/>
            <a:ext cx="3780900" cy="27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Chivo"/>
              <a:buChar char="■"/>
              <a:defRPr/>
            </a:lvl9pPr>
          </a:lstStyle>
          <a:p/>
        </p:txBody>
      </p:sp>
      <p:sp>
        <p:nvSpPr>
          <p:cNvPr id="177" name="Google Shape;177;p25"/>
          <p:cNvSpPr txBox="1"/>
          <p:nvPr>
            <p:ph idx="2" type="body"/>
          </p:nvPr>
        </p:nvSpPr>
        <p:spPr>
          <a:xfrm>
            <a:off x="4651325" y="1682875"/>
            <a:ext cx="3780900" cy="27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■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Chivo"/>
              <a:buChar char="■"/>
              <a:defRPr/>
            </a:lvl9pPr>
          </a:lstStyle>
          <a:p/>
        </p:txBody>
      </p:sp>
      <p:sp>
        <p:nvSpPr>
          <p:cNvPr id="178" name="Google Shape;178;p25"/>
          <p:cNvSpPr txBox="1"/>
          <p:nvPr>
            <p:ph idx="3" type="subTitle"/>
          </p:nvPr>
        </p:nvSpPr>
        <p:spPr>
          <a:xfrm>
            <a:off x="713250" y="1217050"/>
            <a:ext cx="7717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5"/>
          <p:cNvSpPr/>
          <p:nvPr/>
        </p:nvSpPr>
        <p:spPr>
          <a:xfrm flipH="1">
            <a:off x="713400" y="4876025"/>
            <a:ext cx="84306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0" name="Google Shape;180;p25"/>
          <p:cNvGrpSpPr/>
          <p:nvPr/>
        </p:nvGrpSpPr>
        <p:grpSpPr>
          <a:xfrm>
            <a:off x="283800" y="-4100"/>
            <a:ext cx="8576400" cy="5147625"/>
            <a:chOff x="283800" y="-4100"/>
            <a:chExt cx="8576400" cy="5147625"/>
          </a:xfrm>
        </p:grpSpPr>
        <p:cxnSp>
          <p:nvCxnSpPr>
            <p:cNvPr id="181" name="Google Shape;181;p25"/>
            <p:cNvCxnSpPr/>
            <p:nvPr/>
          </p:nvCxnSpPr>
          <p:spPr>
            <a:xfrm>
              <a:off x="8860200" y="2571925"/>
              <a:ext cx="0" cy="257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2" name="Google Shape;182;p25"/>
            <p:cNvCxnSpPr/>
            <p:nvPr/>
          </p:nvCxnSpPr>
          <p:spPr>
            <a:xfrm>
              <a:off x="283800" y="-4100"/>
              <a:ext cx="0" cy="2575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3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85" name="Google Shape;185;p26"/>
          <p:cNvSpPr txBox="1"/>
          <p:nvPr>
            <p:ph idx="1" type="subTitle"/>
          </p:nvPr>
        </p:nvSpPr>
        <p:spPr>
          <a:xfrm>
            <a:off x="1106875" y="1964500"/>
            <a:ext cx="3200400" cy="18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26"/>
          <p:cNvSpPr txBox="1"/>
          <p:nvPr>
            <p:ph idx="2" type="subTitle"/>
          </p:nvPr>
        </p:nvSpPr>
        <p:spPr>
          <a:xfrm>
            <a:off x="4836725" y="1964500"/>
            <a:ext cx="3200400" cy="18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6"/>
          <p:cNvSpPr/>
          <p:nvPr/>
        </p:nvSpPr>
        <p:spPr>
          <a:xfrm rot="10800000">
            <a:off x="8860200" y="-26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8" name="Google Shape;188;p26"/>
          <p:cNvGrpSpPr/>
          <p:nvPr/>
        </p:nvGrpSpPr>
        <p:grpSpPr>
          <a:xfrm rot="10800000">
            <a:off x="-125" y="267450"/>
            <a:ext cx="9002225" cy="4876050"/>
            <a:chOff x="141900" y="-26"/>
            <a:chExt cx="9002225" cy="4876050"/>
          </a:xfrm>
        </p:grpSpPr>
        <p:cxnSp>
          <p:nvCxnSpPr>
            <p:cNvPr id="189" name="Google Shape;189;p26"/>
            <p:cNvCxnSpPr/>
            <p:nvPr/>
          </p:nvCxnSpPr>
          <p:spPr>
            <a:xfrm>
              <a:off x="7404125" y="4876024"/>
              <a:ext cx="1740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0" name="Google Shape;190;p26"/>
            <p:cNvCxnSpPr/>
            <p:nvPr/>
          </p:nvCxnSpPr>
          <p:spPr>
            <a:xfrm rot="10800000">
              <a:off x="141900" y="-26"/>
              <a:ext cx="0" cy="3958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4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93" name="Google Shape;193;p27"/>
          <p:cNvSpPr txBox="1"/>
          <p:nvPr>
            <p:ph idx="1" type="subTitle"/>
          </p:nvPr>
        </p:nvSpPr>
        <p:spPr>
          <a:xfrm>
            <a:off x="713263" y="3406527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27"/>
          <p:cNvSpPr txBox="1"/>
          <p:nvPr>
            <p:ph idx="2" type="subTitle"/>
          </p:nvPr>
        </p:nvSpPr>
        <p:spPr>
          <a:xfrm>
            <a:off x="713263" y="2785375"/>
            <a:ext cx="24003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195" name="Google Shape;195;p27"/>
          <p:cNvSpPr txBox="1"/>
          <p:nvPr>
            <p:ph idx="3" type="subTitle"/>
          </p:nvPr>
        </p:nvSpPr>
        <p:spPr>
          <a:xfrm>
            <a:off x="6030438" y="3406527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27"/>
          <p:cNvSpPr txBox="1"/>
          <p:nvPr>
            <p:ph idx="4" type="subTitle"/>
          </p:nvPr>
        </p:nvSpPr>
        <p:spPr>
          <a:xfrm>
            <a:off x="6030438" y="2782400"/>
            <a:ext cx="24003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197" name="Google Shape;197;p27"/>
          <p:cNvSpPr txBox="1"/>
          <p:nvPr>
            <p:ph idx="5" type="subTitle"/>
          </p:nvPr>
        </p:nvSpPr>
        <p:spPr>
          <a:xfrm>
            <a:off x="3371850" y="3406527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27"/>
          <p:cNvSpPr txBox="1"/>
          <p:nvPr>
            <p:ph idx="6" type="subTitle"/>
          </p:nvPr>
        </p:nvSpPr>
        <p:spPr>
          <a:xfrm>
            <a:off x="3371850" y="2782400"/>
            <a:ext cx="24003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5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8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01" name="Google Shape;201;p28"/>
          <p:cNvSpPr txBox="1"/>
          <p:nvPr>
            <p:ph idx="1" type="subTitle"/>
          </p:nvPr>
        </p:nvSpPr>
        <p:spPr>
          <a:xfrm>
            <a:off x="865625" y="3694227"/>
            <a:ext cx="22626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28"/>
          <p:cNvSpPr txBox="1"/>
          <p:nvPr>
            <p:ph idx="2" type="subTitle"/>
          </p:nvPr>
        </p:nvSpPr>
        <p:spPr>
          <a:xfrm>
            <a:off x="865625" y="3103975"/>
            <a:ext cx="22626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03" name="Google Shape;203;p28"/>
          <p:cNvSpPr txBox="1"/>
          <p:nvPr>
            <p:ph idx="3" type="subTitle"/>
          </p:nvPr>
        </p:nvSpPr>
        <p:spPr>
          <a:xfrm>
            <a:off x="6015775" y="3694227"/>
            <a:ext cx="22626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28"/>
          <p:cNvSpPr txBox="1"/>
          <p:nvPr>
            <p:ph idx="4" type="subTitle"/>
          </p:nvPr>
        </p:nvSpPr>
        <p:spPr>
          <a:xfrm>
            <a:off x="6015775" y="3103975"/>
            <a:ext cx="22626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05" name="Google Shape;205;p28"/>
          <p:cNvSpPr txBox="1"/>
          <p:nvPr>
            <p:ph idx="5" type="subTitle"/>
          </p:nvPr>
        </p:nvSpPr>
        <p:spPr>
          <a:xfrm>
            <a:off x="3440700" y="3694227"/>
            <a:ext cx="22626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28"/>
          <p:cNvSpPr txBox="1"/>
          <p:nvPr>
            <p:ph idx="6" type="subTitle"/>
          </p:nvPr>
        </p:nvSpPr>
        <p:spPr>
          <a:xfrm>
            <a:off x="3440700" y="3103975"/>
            <a:ext cx="22626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07" name="Google Shape;207;p28"/>
          <p:cNvSpPr/>
          <p:nvPr/>
        </p:nvSpPr>
        <p:spPr>
          <a:xfrm>
            <a:off x="0" y="4876025"/>
            <a:ext cx="91440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8" name="Google Shape;208;p28"/>
          <p:cNvGrpSpPr/>
          <p:nvPr/>
        </p:nvGrpSpPr>
        <p:grpSpPr>
          <a:xfrm>
            <a:off x="283800" y="-48"/>
            <a:ext cx="8860200" cy="5009873"/>
            <a:chOff x="283800" y="-48"/>
            <a:chExt cx="8860200" cy="5009873"/>
          </a:xfrm>
        </p:grpSpPr>
        <p:cxnSp>
          <p:nvCxnSpPr>
            <p:cNvPr id="209" name="Google Shape;209;p28"/>
            <p:cNvCxnSpPr/>
            <p:nvPr/>
          </p:nvCxnSpPr>
          <p:spPr>
            <a:xfrm>
              <a:off x="4572000" y="5009825"/>
              <a:ext cx="4572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0" name="Google Shape;210;p28"/>
            <p:cNvCxnSpPr/>
            <p:nvPr/>
          </p:nvCxnSpPr>
          <p:spPr>
            <a:xfrm rot="10800000">
              <a:off x="283800" y="-48"/>
              <a:ext cx="0" cy="2919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6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13" name="Google Shape;213;p29"/>
          <p:cNvSpPr txBox="1"/>
          <p:nvPr>
            <p:ph idx="1" type="subTitle"/>
          </p:nvPr>
        </p:nvSpPr>
        <p:spPr>
          <a:xfrm>
            <a:off x="1877250" y="1850002"/>
            <a:ext cx="23187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29"/>
          <p:cNvSpPr txBox="1"/>
          <p:nvPr>
            <p:ph idx="2" type="subTitle"/>
          </p:nvPr>
        </p:nvSpPr>
        <p:spPr>
          <a:xfrm>
            <a:off x="1877250" y="1375200"/>
            <a:ext cx="23187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15" name="Google Shape;215;p29"/>
          <p:cNvSpPr txBox="1"/>
          <p:nvPr>
            <p:ph idx="3" type="subTitle"/>
          </p:nvPr>
        </p:nvSpPr>
        <p:spPr>
          <a:xfrm>
            <a:off x="1877250" y="3515601"/>
            <a:ext cx="23187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29"/>
          <p:cNvSpPr txBox="1"/>
          <p:nvPr>
            <p:ph idx="4" type="subTitle"/>
          </p:nvPr>
        </p:nvSpPr>
        <p:spPr>
          <a:xfrm>
            <a:off x="1877250" y="3040799"/>
            <a:ext cx="23187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17" name="Google Shape;217;p29"/>
          <p:cNvSpPr txBox="1"/>
          <p:nvPr>
            <p:ph idx="5" type="subTitle"/>
          </p:nvPr>
        </p:nvSpPr>
        <p:spPr>
          <a:xfrm>
            <a:off x="6112075" y="1850002"/>
            <a:ext cx="23187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29"/>
          <p:cNvSpPr txBox="1"/>
          <p:nvPr>
            <p:ph idx="6" type="subTitle"/>
          </p:nvPr>
        </p:nvSpPr>
        <p:spPr>
          <a:xfrm>
            <a:off x="6112075" y="1375200"/>
            <a:ext cx="23187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19" name="Google Shape;219;p29"/>
          <p:cNvSpPr txBox="1"/>
          <p:nvPr>
            <p:ph idx="7" type="subTitle"/>
          </p:nvPr>
        </p:nvSpPr>
        <p:spPr>
          <a:xfrm>
            <a:off x="6112075" y="3515601"/>
            <a:ext cx="23187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29"/>
          <p:cNvSpPr txBox="1"/>
          <p:nvPr>
            <p:ph idx="8" type="subTitle"/>
          </p:nvPr>
        </p:nvSpPr>
        <p:spPr>
          <a:xfrm>
            <a:off x="6112075" y="3040799"/>
            <a:ext cx="23187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21" name="Google Shape;221;p29"/>
          <p:cNvSpPr/>
          <p:nvPr/>
        </p:nvSpPr>
        <p:spPr>
          <a:xfrm flipH="1">
            <a:off x="8860200" y="0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2" name="Google Shape;222;p29"/>
          <p:cNvCxnSpPr/>
          <p:nvPr/>
        </p:nvCxnSpPr>
        <p:spPr>
          <a:xfrm rot="10800000">
            <a:off x="9002100" y="-26"/>
            <a:ext cx="0" cy="3958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6_1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0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25" name="Google Shape;225;p30"/>
          <p:cNvSpPr txBox="1"/>
          <p:nvPr>
            <p:ph idx="1" type="subTitle"/>
          </p:nvPr>
        </p:nvSpPr>
        <p:spPr>
          <a:xfrm>
            <a:off x="713250" y="3515601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30"/>
          <p:cNvSpPr txBox="1"/>
          <p:nvPr>
            <p:ph idx="2" type="subTitle"/>
          </p:nvPr>
        </p:nvSpPr>
        <p:spPr>
          <a:xfrm>
            <a:off x="713250" y="3040799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27" name="Google Shape;227;p30"/>
          <p:cNvSpPr txBox="1"/>
          <p:nvPr>
            <p:ph idx="3" type="subTitle"/>
          </p:nvPr>
        </p:nvSpPr>
        <p:spPr>
          <a:xfrm>
            <a:off x="6030450" y="3515601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30"/>
          <p:cNvSpPr txBox="1"/>
          <p:nvPr>
            <p:ph idx="4" type="subTitle"/>
          </p:nvPr>
        </p:nvSpPr>
        <p:spPr>
          <a:xfrm>
            <a:off x="6030450" y="3040799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29" name="Google Shape;229;p30"/>
          <p:cNvSpPr txBox="1"/>
          <p:nvPr>
            <p:ph idx="5" type="subTitle"/>
          </p:nvPr>
        </p:nvSpPr>
        <p:spPr>
          <a:xfrm>
            <a:off x="3371850" y="3515601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30"/>
          <p:cNvSpPr txBox="1"/>
          <p:nvPr>
            <p:ph idx="6" type="subTitle"/>
          </p:nvPr>
        </p:nvSpPr>
        <p:spPr>
          <a:xfrm>
            <a:off x="3371850" y="3040799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31" name="Google Shape;231;p30"/>
          <p:cNvSpPr txBox="1"/>
          <p:nvPr>
            <p:ph idx="7" type="subTitle"/>
          </p:nvPr>
        </p:nvSpPr>
        <p:spPr>
          <a:xfrm>
            <a:off x="2042531" y="1850002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30"/>
          <p:cNvSpPr txBox="1"/>
          <p:nvPr>
            <p:ph idx="8" type="subTitle"/>
          </p:nvPr>
        </p:nvSpPr>
        <p:spPr>
          <a:xfrm>
            <a:off x="2042531" y="1375200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33" name="Google Shape;233;p30"/>
          <p:cNvSpPr txBox="1"/>
          <p:nvPr>
            <p:ph idx="9" type="subTitle"/>
          </p:nvPr>
        </p:nvSpPr>
        <p:spPr>
          <a:xfrm>
            <a:off x="4701169" y="1850002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30"/>
          <p:cNvSpPr txBox="1"/>
          <p:nvPr>
            <p:ph idx="13" type="subTitle"/>
          </p:nvPr>
        </p:nvSpPr>
        <p:spPr>
          <a:xfrm>
            <a:off x="4701169" y="1375200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35" name="Google Shape;235;p30"/>
          <p:cNvSpPr/>
          <p:nvPr/>
        </p:nvSpPr>
        <p:spPr>
          <a:xfrm>
            <a:off x="0" y="4876025"/>
            <a:ext cx="84306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6" name="Google Shape;236;p30"/>
          <p:cNvGrpSpPr/>
          <p:nvPr/>
        </p:nvGrpSpPr>
        <p:grpSpPr>
          <a:xfrm flipH="1">
            <a:off x="283800" y="-4100"/>
            <a:ext cx="8576400" cy="5147625"/>
            <a:chOff x="283800" y="-4100"/>
            <a:chExt cx="8576400" cy="5147625"/>
          </a:xfrm>
        </p:grpSpPr>
        <p:cxnSp>
          <p:nvCxnSpPr>
            <p:cNvPr id="237" name="Google Shape;237;p30"/>
            <p:cNvCxnSpPr/>
            <p:nvPr/>
          </p:nvCxnSpPr>
          <p:spPr>
            <a:xfrm>
              <a:off x="8860200" y="2571925"/>
              <a:ext cx="0" cy="257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8" name="Google Shape;238;p30"/>
            <p:cNvCxnSpPr/>
            <p:nvPr/>
          </p:nvCxnSpPr>
          <p:spPr>
            <a:xfrm>
              <a:off x="283800" y="-4100"/>
              <a:ext cx="0" cy="2575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_1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41" name="Google Shape;241;p31"/>
          <p:cNvSpPr txBox="1"/>
          <p:nvPr>
            <p:ph idx="1" type="subTitle"/>
          </p:nvPr>
        </p:nvSpPr>
        <p:spPr>
          <a:xfrm>
            <a:off x="713244" y="3515601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31"/>
          <p:cNvSpPr txBox="1"/>
          <p:nvPr>
            <p:ph idx="2" type="subTitle"/>
          </p:nvPr>
        </p:nvSpPr>
        <p:spPr>
          <a:xfrm>
            <a:off x="713244" y="3040799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43" name="Google Shape;243;p31"/>
          <p:cNvSpPr txBox="1"/>
          <p:nvPr>
            <p:ph idx="3" type="subTitle"/>
          </p:nvPr>
        </p:nvSpPr>
        <p:spPr>
          <a:xfrm>
            <a:off x="6030456" y="3515601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31"/>
          <p:cNvSpPr txBox="1"/>
          <p:nvPr>
            <p:ph idx="4" type="subTitle"/>
          </p:nvPr>
        </p:nvSpPr>
        <p:spPr>
          <a:xfrm>
            <a:off x="6030456" y="3040799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45" name="Google Shape;245;p31"/>
          <p:cNvSpPr txBox="1"/>
          <p:nvPr>
            <p:ph idx="5" type="subTitle"/>
          </p:nvPr>
        </p:nvSpPr>
        <p:spPr>
          <a:xfrm>
            <a:off x="3371850" y="3515601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31"/>
          <p:cNvSpPr txBox="1"/>
          <p:nvPr>
            <p:ph idx="6" type="subTitle"/>
          </p:nvPr>
        </p:nvSpPr>
        <p:spPr>
          <a:xfrm>
            <a:off x="3371850" y="3040799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47" name="Google Shape;247;p31"/>
          <p:cNvSpPr txBox="1"/>
          <p:nvPr>
            <p:ph idx="7" type="subTitle"/>
          </p:nvPr>
        </p:nvSpPr>
        <p:spPr>
          <a:xfrm>
            <a:off x="713244" y="1850002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31"/>
          <p:cNvSpPr txBox="1"/>
          <p:nvPr>
            <p:ph idx="8" type="subTitle"/>
          </p:nvPr>
        </p:nvSpPr>
        <p:spPr>
          <a:xfrm>
            <a:off x="713244" y="1375200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49" name="Google Shape;249;p31"/>
          <p:cNvSpPr txBox="1"/>
          <p:nvPr>
            <p:ph idx="9" type="subTitle"/>
          </p:nvPr>
        </p:nvSpPr>
        <p:spPr>
          <a:xfrm>
            <a:off x="3371850" y="1850002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31"/>
          <p:cNvSpPr txBox="1"/>
          <p:nvPr>
            <p:ph idx="13" type="subTitle"/>
          </p:nvPr>
        </p:nvSpPr>
        <p:spPr>
          <a:xfrm>
            <a:off x="3371850" y="1375200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51" name="Google Shape;251;p31"/>
          <p:cNvSpPr txBox="1"/>
          <p:nvPr>
            <p:ph idx="14" type="subTitle"/>
          </p:nvPr>
        </p:nvSpPr>
        <p:spPr>
          <a:xfrm>
            <a:off x="6030456" y="1850002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31"/>
          <p:cNvSpPr txBox="1"/>
          <p:nvPr>
            <p:ph idx="15" type="subTitle"/>
          </p:nvPr>
        </p:nvSpPr>
        <p:spPr>
          <a:xfrm>
            <a:off x="6030456" y="1375200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53" name="Google Shape;253;p31"/>
          <p:cNvSpPr/>
          <p:nvPr/>
        </p:nvSpPr>
        <p:spPr>
          <a:xfrm flipH="1" rot="10800000">
            <a:off x="25" y="-26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4" name="Google Shape;254;p31"/>
          <p:cNvGrpSpPr/>
          <p:nvPr/>
        </p:nvGrpSpPr>
        <p:grpSpPr>
          <a:xfrm flipH="1" rot="10800000">
            <a:off x="141925" y="267450"/>
            <a:ext cx="9001950" cy="4876050"/>
            <a:chOff x="141900" y="-26"/>
            <a:chExt cx="9001950" cy="4876050"/>
          </a:xfrm>
        </p:grpSpPr>
        <p:cxnSp>
          <p:nvCxnSpPr>
            <p:cNvPr id="255" name="Google Shape;255;p31"/>
            <p:cNvCxnSpPr/>
            <p:nvPr/>
          </p:nvCxnSpPr>
          <p:spPr>
            <a:xfrm>
              <a:off x="7907850" y="4876024"/>
              <a:ext cx="1236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6" name="Google Shape;256;p31"/>
            <p:cNvCxnSpPr/>
            <p:nvPr/>
          </p:nvCxnSpPr>
          <p:spPr>
            <a:xfrm rot="10800000">
              <a:off x="141900" y="-26"/>
              <a:ext cx="0" cy="3958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8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2"/>
          <p:cNvSpPr txBox="1"/>
          <p:nvPr>
            <p:ph type="title"/>
          </p:nvPr>
        </p:nvSpPr>
        <p:spPr>
          <a:xfrm>
            <a:off x="2654700" y="530250"/>
            <a:ext cx="3834600" cy="11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259" name="Google Shape;259;p32"/>
          <p:cNvSpPr txBox="1"/>
          <p:nvPr>
            <p:ph idx="1" type="subTitle"/>
          </p:nvPr>
        </p:nvSpPr>
        <p:spPr>
          <a:xfrm>
            <a:off x="2654700" y="2342156"/>
            <a:ext cx="3834600" cy="97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55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9pPr>
          </a:lstStyle>
          <a:p/>
        </p:txBody>
      </p:sp>
      <p:sp>
        <p:nvSpPr>
          <p:cNvPr id="260" name="Google Shape;260;p32"/>
          <p:cNvSpPr txBox="1"/>
          <p:nvPr>
            <p:ph idx="2" type="subTitle"/>
          </p:nvPr>
        </p:nvSpPr>
        <p:spPr>
          <a:xfrm>
            <a:off x="2654700" y="4111851"/>
            <a:ext cx="3834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0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9pPr>
          </a:lstStyle>
          <a:p/>
        </p:txBody>
      </p:sp>
      <p:grpSp>
        <p:nvGrpSpPr>
          <p:cNvPr id="261" name="Google Shape;261;p32"/>
          <p:cNvGrpSpPr/>
          <p:nvPr/>
        </p:nvGrpSpPr>
        <p:grpSpPr>
          <a:xfrm>
            <a:off x="713688" y="2579400"/>
            <a:ext cx="8430488" cy="2564100"/>
            <a:chOff x="713688" y="2579400"/>
            <a:chExt cx="8430488" cy="2564100"/>
          </a:xfrm>
        </p:grpSpPr>
        <p:cxnSp>
          <p:nvCxnSpPr>
            <p:cNvPr id="262" name="Google Shape;262;p32"/>
            <p:cNvCxnSpPr/>
            <p:nvPr/>
          </p:nvCxnSpPr>
          <p:spPr>
            <a:xfrm>
              <a:off x="2839075" y="4876025"/>
              <a:ext cx="63051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3" name="Google Shape;263;p32"/>
            <p:cNvCxnSpPr/>
            <p:nvPr/>
          </p:nvCxnSpPr>
          <p:spPr>
            <a:xfrm rot="10800000">
              <a:off x="713688" y="2579400"/>
              <a:ext cx="0" cy="2564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64" name="Google Shape;264;p32"/>
          <p:cNvSpPr txBox="1"/>
          <p:nvPr/>
        </p:nvSpPr>
        <p:spPr>
          <a:xfrm>
            <a:off x="2654700" y="3304597"/>
            <a:ext cx="38346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2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Credits: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, and includes icons, infographics &amp; images by </a:t>
            </a:r>
            <a:r>
              <a:rPr b="1" lang="en" sz="1200" u="sng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</a:t>
            </a:r>
            <a:r>
              <a:rPr b="1" lang="en" sz="1200" u="sng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</a:t>
            </a:r>
            <a:endParaRPr sz="1200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6" name="Google Shape;266;p33"/>
          <p:cNvCxnSpPr/>
          <p:nvPr/>
        </p:nvCxnSpPr>
        <p:spPr>
          <a:xfrm rot="10800000">
            <a:off x="9002100" y="-100"/>
            <a:ext cx="0" cy="265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7" name="Google Shape;267;p33"/>
          <p:cNvSpPr/>
          <p:nvPr/>
        </p:nvSpPr>
        <p:spPr>
          <a:xfrm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8" name="Google Shape;268;p33"/>
          <p:cNvCxnSpPr/>
          <p:nvPr/>
        </p:nvCxnSpPr>
        <p:spPr>
          <a:xfrm>
            <a:off x="4273200" y="4876025"/>
            <a:ext cx="4870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" name="Google Shape;269;p33"/>
          <p:cNvCxnSpPr/>
          <p:nvPr/>
        </p:nvCxnSpPr>
        <p:spPr>
          <a:xfrm rot="10800000">
            <a:off x="711250" y="0"/>
            <a:ext cx="0" cy="413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0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4"/>
          <p:cNvSpPr/>
          <p:nvPr/>
        </p:nvSpPr>
        <p:spPr>
          <a:xfrm rot="10800000">
            <a:off x="125" y="0"/>
            <a:ext cx="7167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2" name="Google Shape;272;p34"/>
          <p:cNvGrpSpPr/>
          <p:nvPr/>
        </p:nvGrpSpPr>
        <p:grpSpPr>
          <a:xfrm rot="10800000">
            <a:off x="0" y="363100"/>
            <a:ext cx="8860200" cy="4780400"/>
            <a:chOff x="283800" y="0"/>
            <a:chExt cx="8860200" cy="4780400"/>
          </a:xfrm>
        </p:grpSpPr>
        <p:cxnSp>
          <p:nvCxnSpPr>
            <p:cNvPr id="273" name="Google Shape;273;p34"/>
            <p:cNvCxnSpPr/>
            <p:nvPr/>
          </p:nvCxnSpPr>
          <p:spPr>
            <a:xfrm>
              <a:off x="4273200" y="4780400"/>
              <a:ext cx="4870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4" name="Google Shape;274;p34"/>
            <p:cNvCxnSpPr/>
            <p:nvPr/>
          </p:nvCxnSpPr>
          <p:spPr>
            <a:xfrm rot="10800000">
              <a:off x="283800" y="0"/>
              <a:ext cx="0" cy="413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34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297400"/>
            <a:ext cx="7717500" cy="3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5"/>
          <p:cNvSpPr txBox="1"/>
          <p:nvPr>
            <p:ph type="ctrTitle"/>
          </p:nvPr>
        </p:nvSpPr>
        <p:spPr>
          <a:xfrm>
            <a:off x="713225" y="1760850"/>
            <a:ext cx="5602200" cy="208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Real-Time</a:t>
            </a:r>
            <a:endParaRPr sz="3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solidFill>
                  <a:schemeClr val="accent1"/>
                </a:solidFill>
              </a:rPr>
              <a:t>Assistive Live Caption</a:t>
            </a:r>
            <a:endParaRPr sz="3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Predictions for Disfluency</a:t>
            </a:r>
            <a:endParaRPr sz="3400"/>
          </a:p>
        </p:txBody>
      </p:sp>
      <p:sp>
        <p:nvSpPr>
          <p:cNvPr id="280" name="Google Shape;280;p35"/>
          <p:cNvSpPr txBox="1"/>
          <p:nvPr>
            <p:ph idx="1" type="subTitle"/>
          </p:nvPr>
        </p:nvSpPr>
        <p:spPr>
          <a:xfrm>
            <a:off x="713225" y="3844225"/>
            <a:ext cx="5602200" cy="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Ranjith Merugu and Ethan Lau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6"/>
          <p:cNvSpPr/>
          <p:nvPr/>
        </p:nvSpPr>
        <p:spPr>
          <a:xfrm>
            <a:off x="5045480" y="1451000"/>
            <a:ext cx="852900" cy="369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6" name="Google Shape;286;p36"/>
          <p:cNvGrpSpPr/>
          <p:nvPr/>
        </p:nvGrpSpPr>
        <p:grpSpPr>
          <a:xfrm>
            <a:off x="0" y="1451000"/>
            <a:ext cx="4108200" cy="3692400"/>
            <a:chOff x="0" y="1451000"/>
            <a:chExt cx="4108200" cy="3692400"/>
          </a:xfrm>
        </p:grpSpPr>
        <p:sp>
          <p:nvSpPr>
            <p:cNvPr id="287" name="Google Shape;287;p36"/>
            <p:cNvSpPr/>
            <p:nvPr/>
          </p:nvSpPr>
          <p:spPr>
            <a:xfrm>
              <a:off x="1005300" y="1451000"/>
              <a:ext cx="852900" cy="3692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88" name="Google Shape;288;p36"/>
            <p:cNvCxnSpPr/>
            <p:nvPr/>
          </p:nvCxnSpPr>
          <p:spPr>
            <a:xfrm>
              <a:off x="0" y="4797575"/>
              <a:ext cx="4108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89" name="Google Shape;289;p36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Table of </a:t>
            </a:r>
            <a:r>
              <a:rPr lang="en"/>
              <a:t>C</a:t>
            </a:r>
            <a:r>
              <a:rPr lang="en" sz="3100"/>
              <a:t>ontents</a:t>
            </a:r>
            <a:endParaRPr sz="3100"/>
          </a:p>
        </p:txBody>
      </p:sp>
      <p:sp>
        <p:nvSpPr>
          <p:cNvPr id="290" name="Google Shape;290;p36"/>
          <p:cNvSpPr txBox="1"/>
          <p:nvPr>
            <p:ph idx="1" type="subTitle"/>
          </p:nvPr>
        </p:nvSpPr>
        <p:spPr>
          <a:xfrm>
            <a:off x="1936100" y="2129352"/>
            <a:ext cx="22887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Stuttering disrupts communication.</a:t>
            </a:r>
            <a:endParaRPr/>
          </a:p>
        </p:txBody>
      </p:sp>
      <p:sp>
        <p:nvSpPr>
          <p:cNvPr id="291" name="Google Shape;291;p36"/>
          <p:cNvSpPr txBox="1"/>
          <p:nvPr>
            <p:ph idx="2" type="subTitle"/>
          </p:nvPr>
        </p:nvSpPr>
        <p:spPr>
          <a:xfrm>
            <a:off x="1936100" y="1370275"/>
            <a:ext cx="2288700" cy="8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problem?</a:t>
            </a:r>
            <a:endParaRPr/>
          </a:p>
        </p:txBody>
      </p:sp>
      <p:sp>
        <p:nvSpPr>
          <p:cNvPr id="292" name="Google Shape;292;p36"/>
          <p:cNvSpPr txBox="1"/>
          <p:nvPr>
            <p:ph idx="3" type="title"/>
          </p:nvPr>
        </p:nvSpPr>
        <p:spPr>
          <a:xfrm>
            <a:off x="993600" y="1483400"/>
            <a:ext cx="876300" cy="115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93" name="Google Shape;293;p36"/>
          <p:cNvSpPr txBox="1"/>
          <p:nvPr>
            <p:ph idx="4" type="subTitle"/>
          </p:nvPr>
        </p:nvSpPr>
        <p:spPr>
          <a:xfrm>
            <a:off x="1936100" y="3827175"/>
            <a:ext cx="22887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SpeakUp, Our methodology</a:t>
            </a:r>
            <a:endParaRPr/>
          </a:p>
        </p:txBody>
      </p:sp>
      <p:sp>
        <p:nvSpPr>
          <p:cNvPr id="294" name="Google Shape;294;p36"/>
          <p:cNvSpPr txBox="1"/>
          <p:nvPr>
            <p:ph idx="5" type="subTitle"/>
          </p:nvPr>
        </p:nvSpPr>
        <p:spPr>
          <a:xfrm>
            <a:off x="1936100" y="3068200"/>
            <a:ext cx="2288700" cy="8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Existing work and proposal</a:t>
            </a:r>
            <a:endParaRPr/>
          </a:p>
        </p:txBody>
      </p:sp>
      <p:sp>
        <p:nvSpPr>
          <p:cNvPr id="295" name="Google Shape;295;p36"/>
          <p:cNvSpPr txBox="1"/>
          <p:nvPr>
            <p:ph idx="6" type="title"/>
          </p:nvPr>
        </p:nvSpPr>
        <p:spPr>
          <a:xfrm>
            <a:off x="993600" y="3179712"/>
            <a:ext cx="876300" cy="115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96" name="Google Shape;296;p36"/>
          <p:cNvSpPr txBox="1"/>
          <p:nvPr>
            <p:ph idx="7" type="subTitle"/>
          </p:nvPr>
        </p:nvSpPr>
        <p:spPr>
          <a:xfrm>
            <a:off x="5969575" y="2129350"/>
            <a:ext cx="26682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Assist people with stuttering to speak</a:t>
            </a:r>
            <a:r>
              <a:rPr lang="en"/>
              <a:t>.</a:t>
            </a:r>
            <a:endParaRPr/>
          </a:p>
        </p:txBody>
      </p:sp>
      <p:sp>
        <p:nvSpPr>
          <p:cNvPr id="297" name="Google Shape;297;p36"/>
          <p:cNvSpPr txBox="1"/>
          <p:nvPr>
            <p:ph idx="8" type="subTitle"/>
          </p:nvPr>
        </p:nvSpPr>
        <p:spPr>
          <a:xfrm>
            <a:off x="5969570" y="1370275"/>
            <a:ext cx="2288700" cy="8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Motivations for the project</a:t>
            </a:r>
            <a:endParaRPr/>
          </a:p>
        </p:txBody>
      </p:sp>
      <p:sp>
        <p:nvSpPr>
          <p:cNvPr id="298" name="Google Shape;298;p36"/>
          <p:cNvSpPr txBox="1"/>
          <p:nvPr>
            <p:ph idx="9" type="title"/>
          </p:nvPr>
        </p:nvSpPr>
        <p:spPr>
          <a:xfrm>
            <a:off x="5033780" y="1483400"/>
            <a:ext cx="876300" cy="115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99" name="Google Shape;299;p36"/>
          <p:cNvSpPr txBox="1"/>
          <p:nvPr>
            <p:ph idx="13" type="subTitle"/>
          </p:nvPr>
        </p:nvSpPr>
        <p:spPr>
          <a:xfrm>
            <a:off x="5969570" y="3827175"/>
            <a:ext cx="22887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Datasets and evaluations.</a:t>
            </a:r>
            <a:endParaRPr/>
          </a:p>
        </p:txBody>
      </p:sp>
      <p:sp>
        <p:nvSpPr>
          <p:cNvPr id="300" name="Google Shape;300;p36"/>
          <p:cNvSpPr txBox="1"/>
          <p:nvPr>
            <p:ph idx="14" type="subTitle"/>
          </p:nvPr>
        </p:nvSpPr>
        <p:spPr>
          <a:xfrm>
            <a:off x="5969570" y="3068200"/>
            <a:ext cx="2288700" cy="8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and evaluation</a:t>
            </a:r>
            <a:endParaRPr/>
          </a:p>
        </p:txBody>
      </p:sp>
      <p:sp>
        <p:nvSpPr>
          <p:cNvPr id="301" name="Google Shape;301;p36"/>
          <p:cNvSpPr txBox="1"/>
          <p:nvPr>
            <p:ph idx="15" type="title"/>
          </p:nvPr>
        </p:nvSpPr>
        <p:spPr>
          <a:xfrm>
            <a:off x="5033780" y="3179712"/>
            <a:ext cx="876300" cy="115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oogle Shape;306;p37"/>
          <p:cNvGrpSpPr/>
          <p:nvPr/>
        </p:nvGrpSpPr>
        <p:grpSpPr>
          <a:xfrm>
            <a:off x="0" y="0"/>
            <a:ext cx="2473800" cy="4131000"/>
            <a:chOff x="0" y="0"/>
            <a:chExt cx="2473800" cy="4131000"/>
          </a:xfrm>
        </p:grpSpPr>
        <p:sp>
          <p:nvSpPr>
            <p:cNvPr id="307" name="Google Shape;307;p37"/>
            <p:cNvSpPr/>
            <p:nvPr/>
          </p:nvSpPr>
          <p:spPr>
            <a:xfrm>
              <a:off x="0" y="1012500"/>
              <a:ext cx="2473800" cy="870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08" name="Google Shape;308;p37"/>
            <p:cNvCxnSpPr/>
            <p:nvPr/>
          </p:nvCxnSpPr>
          <p:spPr>
            <a:xfrm rot="10800000">
              <a:off x="711250" y="0"/>
              <a:ext cx="0" cy="413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09" name="Google Shape;309;p37"/>
          <p:cNvSpPr txBox="1"/>
          <p:nvPr>
            <p:ph type="title"/>
          </p:nvPr>
        </p:nvSpPr>
        <p:spPr>
          <a:xfrm>
            <a:off x="1512075" y="2036300"/>
            <a:ext cx="49449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problem?</a:t>
            </a:r>
            <a:endParaRPr/>
          </a:p>
        </p:txBody>
      </p:sp>
      <p:sp>
        <p:nvSpPr>
          <p:cNvPr id="310" name="Google Shape;310;p37"/>
          <p:cNvSpPr txBox="1"/>
          <p:nvPr>
            <p:ph idx="2" type="title"/>
          </p:nvPr>
        </p:nvSpPr>
        <p:spPr>
          <a:xfrm>
            <a:off x="1512075" y="1012500"/>
            <a:ext cx="1076100" cy="87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r>
              <a:rPr lang="en"/>
              <a:t>1</a:t>
            </a:r>
            <a:endParaRPr/>
          </a:p>
        </p:txBody>
      </p:sp>
      <p:sp>
        <p:nvSpPr>
          <p:cNvPr id="311" name="Google Shape;311;p37"/>
          <p:cNvSpPr txBox="1"/>
          <p:nvPr>
            <p:ph idx="1" type="subTitle"/>
          </p:nvPr>
        </p:nvSpPr>
        <p:spPr>
          <a:xfrm>
            <a:off x="1596075" y="4131000"/>
            <a:ext cx="1692900" cy="2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8"/>
          <p:cNvSpPr txBox="1"/>
          <p:nvPr>
            <p:ph type="title"/>
          </p:nvPr>
        </p:nvSpPr>
        <p:spPr>
          <a:xfrm>
            <a:off x="1422900" y="563850"/>
            <a:ext cx="6298200" cy="133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problem?</a:t>
            </a:r>
            <a:endParaRPr/>
          </a:p>
        </p:txBody>
      </p:sp>
      <p:sp>
        <p:nvSpPr>
          <p:cNvPr id="317" name="Google Shape;317;p38"/>
          <p:cNvSpPr txBox="1"/>
          <p:nvPr>
            <p:ph idx="1" type="subTitle"/>
          </p:nvPr>
        </p:nvSpPr>
        <p:spPr>
          <a:xfrm>
            <a:off x="1962900" y="2282714"/>
            <a:ext cx="5218200" cy="20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Stuttering disrupts natural communication, causing broken or prolonged speech segments. Existing therapy tools such as Speakup, SLP apps focus on offline training but not real-time communication support.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9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problem?</a:t>
            </a:r>
            <a:endParaRPr/>
          </a:p>
        </p:txBody>
      </p:sp>
      <p:sp>
        <p:nvSpPr>
          <p:cNvPr id="323" name="Google Shape;323;p39"/>
          <p:cNvSpPr txBox="1"/>
          <p:nvPr>
            <p:ph idx="1" type="subTitle"/>
          </p:nvPr>
        </p:nvSpPr>
        <p:spPr>
          <a:xfrm>
            <a:off x="1106875" y="1964500"/>
            <a:ext cx="3200400" cy="18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24" name="Google Shape;324;p39"/>
          <p:cNvSpPr txBox="1"/>
          <p:nvPr>
            <p:ph idx="2" type="subTitle"/>
          </p:nvPr>
        </p:nvSpPr>
        <p:spPr>
          <a:xfrm>
            <a:off x="1106875" y="1686700"/>
            <a:ext cx="6930300" cy="24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Goal</a:t>
            </a:r>
            <a:r>
              <a:rPr lang="en"/>
              <a:t>: Build a personalized assistive device: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Listen to live speech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Clean and reformat unclear portions of speech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Generate live captions and and/or re-synthesized voice output for fluent communication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Impact</a:t>
            </a:r>
            <a:r>
              <a:rPr lang="en"/>
              <a:t>: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Real-time accessibility for speech-impaired individuals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Useful for </a:t>
            </a:r>
            <a:r>
              <a:rPr lang="en"/>
              <a:t>presentations and conversations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9" name="Google Shape;329;p40"/>
          <p:cNvGrpSpPr/>
          <p:nvPr/>
        </p:nvGrpSpPr>
        <p:grpSpPr>
          <a:xfrm>
            <a:off x="6670200" y="0"/>
            <a:ext cx="2473800" cy="4131000"/>
            <a:chOff x="6670200" y="0"/>
            <a:chExt cx="2473800" cy="4131000"/>
          </a:xfrm>
        </p:grpSpPr>
        <p:sp>
          <p:nvSpPr>
            <p:cNvPr id="330" name="Google Shape;330;p40"/>
            <p:cNvSpPr/>
            <p:nvPr/>
          </p:nvSpPr>
          <p:spPr>
            <a:xfrm flipH="1">
              <a:off x="6670200" y="1012500"/>
              <a:ext cx="2473800" cy="870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31" name="Google Shape;331;p40"/>
            <p:cNvCxnSpPr/>
            <p:nvPr/>
          </p:nvCxnSpPr>
          <p:spPr>
            <a:xfrm rot="10800000">
              <a:off x="8432750" y="0"/>
              <a:ext cx="0" cy="413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32" name="Google Shape;332;p40"/>
          <p:cNvSpPr txBox="1"/>
          <p:nvPr>
            <p:ph type="title"/>
          </p:nvPr>
        </p:nvSpPr>
        <p:spPr>
          <a:xfrm flipH="1">
            <a:off x="2052825" y="2036300"/>
            <a:ext cx="55791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Motivations behind the project</a:t>
            </a:r>
            <a:endParaRPr/>
          </a:p>
        </p:txBody>
      </p:sp>
      <p:sp>
        <p:nvSpPr>
          <p:cNvPr id="333" name="Google Shape;333;p40"/>
          <p:cNvSpPr txBox="1"/>
          <p:nvPr>
            <p:ph idx="2" type="title"/>
          </p:nvPr>
        </p:nvSpPr>
        <p:spPr>
          <a:xfrm flipH="1">
            <a:off x="6555825" y="1012500"/>
            <a:ext cx="1076100" cy="87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34" name="Google Shape;334;p40"/>
          <p:cNvSpPr txBox="1"/>
          <p:nvPr>
            <p:ph idx="1" type="subTitle"/>
          </p:nvPr>
        </p:nvSpPr>
        <p:spPr>
          <a:xfrm flipH="1">
            <a:off x="2052825" y="3573275"/>
            <a:ext cx="5579100" cy="6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1"/>
          <p:cNvSpPr txBox="1"/>
          <p:nvPr>
            <p:ph idx="1" type="body"/>
          </p:nvPr>
        </p:nvSpPr>
        <p:spPr>
          <a:xfrm>
            <a:off x="1691100" y="1759300"/>
            <a:ext cx="5761800" cy="20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project would benefit individuals who struggle with speech impairment.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Our target audience: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Font typeface="Commissioner"/>
              <a:buChar char="■"/>
            </a:pPr>
            <a:r>
              <a:rPr lang="en"/>
              <a:t>Speech-Impaired Individuals (e.g. people with throat cancer recovery)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ommissioner"/>
              <a:buChar char="■"/>
            </a:pPr>
            <a:r>
              <a:rPr lang="en"/>
              <a:t>Elderly individuals who are facing vocal degradation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ommissioner"/>
              <a:buChar char="■"/>
            </a:pPr>
            <a:r>
              <a:rPr lang="en"/>
              <a:t>People who rely on assistive speech devices</a:t>
            </a:r>
            <a:endParaRPr/>
          </a:p>
        </p:txBody>
      </p:sp>
      <p:sp>
        <p:nvSpPr>
          <p:cNvPr id="340" name="Google Shape;340;p41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Motivations behind the project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5" name="Google Shape;345;p42"/>
          <p:cNvGrpSpPr/>
          <p:nvPr/>
        </p:nvGrpSpPr>
        <p:grpSpPr>
          <a:xfrm>
            <a:off x="0" y="0"/>
            <a:ext cx="2473800" cy="4131000"/>
            <a:chOff x="0" y="0"/>
            <a:chExt cx="2473800" cy="4131000"/>
          </a:xfrm>
        </p:grpSpPr>
        <p:sp>
          <p:nvSpPr>
            <p:cNvPr id="346" name="Google Shape;346;p42"/>
            <p:cNvSpPr/>
            <p:nvPr/>
          </p:nvSpPr>
          <p:spPr>
            <a:xfrm>
              <a:off x="0" y="1012500"/>
              <a:ext cx="2473800" cy="870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47" name="Google Shape;347;p42"/>
            <p:cNvCxnSpPr/>
            <p:nvPr/>
          </p:nvCxnSpPr>
          <p:spPr>
            <a:xfrm rot="10800000">
              <a:off x="711250" y="0"/>
              <a:ext cx="0" cy="413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48" name="Google Shape;348;p42"/>
          <p:cNvSpPr txBox="1"/>
          <p:nvPr>
            <p:ph type="title"/>
          </p:nvPr>
        </p:nvSpPr>
        <p:spPr>
          <a:xfrm>
            <a:off x="1512075" y="2036300"/>
            <a:ext cx="49449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Existing work and our methodology</a:t>
            </a:r>
            <a:endParaRPr/>
          </a:p>
        </p:txBody>
      </p:sp>
      <p:sp>
        <p:nvSpPr>
          <p:cNvPr id="349" name="Google Shape;349;p42"/>
          <p:cNvSpPr txBox="1"/>
          <p:nvPr>
            <p:ph idx="2" type="title"/>
          </p:nvPr>
        </p:nvSpPr>
        <p:spPr>
          <a:xfrm>
            <a:off x="1512075" y="1012500"/>
            <a:ext cx="1076100" cy="87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50" name="Google Shape;350;p42"/>
          <p:cNvSpPr txBox="1"/>
          <p:nvPr>
            <p:ph idx="1" type="subTitle"/>
          </p:nvPr>
        </p:nvSpPr>
        <p:spPr>
          <a:xfrm>
            <a:off x="1512075" y="3573275"/>
            <a:ext cx="4944900" cy="6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3"/>
          <p:cNvSpPr txBox="1"/>
          <p:nvPr>
            <p:ph idx="1" type="body"/>
          </p:nvPr>
        </p:nvSpPr>
        <p:spPr>
          <a:xfrm>
            <a:off x="5434950" y="1406200"/>
            <a:ext cx="3225900" cy="25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SpeakUp (ICTer 2019):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Font typeface="Commissioner"/>
              <a:buChar char="■"/>
            </a:pPr>
            <a:r>
              <a:rPr lang="en"/>
              <a:t>Offline training application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ommissioner"/>
              <a:buChar char="■"/>
            </a:pPr>
            <a:r>
              <a:rPr lang="en"/>
              <a:t>Focused on ‘Slowed Reading’ and ‘Easy onset’ training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Uses voice analysis, noise filtering, and syllable counting to address stuttering severity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Achieved ~75-76% recognition accuracy but works only in </a:t>
            </a:r>
            <a:r>
              <a:rPr b="1" lang="en"/>
              <a:t>practice sessions</a:t>
            </a:r>
            <a:r>
              <a:rPr lang="en"/>
              <a:t> not real-time conversations</a:t>
            </a:r>
            <a:endParaRPr/>
          </a:p>
        </p:txBody>
      </p:sp>
      <p:sp>
        <p:nvSpPr>
          <p:cNvPr id="356" name="Google Shape;356;p43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Existing work</a:t>
            </a:r>
            <a:endParaRPr/>
          </a:p>
        </p:txBody>
      </p:sp>
      <p:pic>
        <p:nvPicPr>
          <p:cNvPr id="357" name="Google Shape;35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0900" y="1909763"/>
            <a:ext cx="3457575" cy="132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4"/>
          <p:cNvSpPr/>
          <p:nvPr/>
        </p:nvSpPr>
        <p:spPr>
          <a:xfrm>
            <a:off x="5182975" y="1546000"/>
            <a:ext cx="852900" cy="359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3" name="Google Shape;363;p44"/>
          <p:cNvGrpSpPr/>
          <p:nvPr/>
        </p:nvGrpSpPr>
        <p:grpSpPr>
          <a:xfrm>
            <a:off x="-50" y="1546000"/>
            <a:ext cx="3955200" cy="3597600"/>
            <a:chOff x="-50" y="1546000"/>
            <a:chExt cx="3955200" cy="3597600"/>
          </a:xfrm>
        </p:grpSpPr>
        <p:sp>
          <p:nvSpPr>
            <p:cNvPr id="364" name="Google Shape;364;p44"/>
            <p:cNvSpPr/>
            <p:nvPr/>
          </p:nvSpPr>
          <p:spPr>
            <a:xfrm>
              <a:off x="948150" y="1546000"/>
              <a:ext cx="852900" cy="3597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65" name="Google Shape;365;p44"/>
            <p:cNvCxnSpPr/>
            <p:nvPr/>
          </p:nvCxnSpPr>
          <p:spPr>
            <a:xfrm rot="10800000">
              <a:off x="-50" y="4876025"/>
              <a:ext cx="3955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66" name="Google Shape;366;p44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Gaps in existing work</a:t>
            </a:r>
            <a:endParaRPr/>
          </a:p>
        </p:txBody>
      </p:sp>
      <p:sp>
        <p:nvSpPr>
          <p:cNvPr id="367" name="Google Shape;367;p44"/>
          <p:cNvSpPr txBox="1"/>
          <p:nvPr>
            <p:ph idx="1" type="subTitle"/>
          </p:nvPr>
        </p:nvSpPr>
        <p:spPr>
          <a:xfrm>
            <a:off x="1877250" y="2069200"/>
            <a:ext cx="2318700" cy="82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real-time speech construction occurs in SpeakUp</a:t>
            </a:r>
            <a:endParaRPr/>
          </a:p>
        </p:txBody>
      </p:sp>
      <p:sp>
        <p:nvSpPr>
          <p:cNvPr id="368" name="Google Shape;368;p44"/>
          <p:cNvSpPr txBox="1"/>
          <p:nvPr>
            <p:ph idx="2" type="subTitle"/>
          </p:nvPr>
        </p:nvSpPr>
        <p:spPr>
          <a:xfrm>
            <a:off x="1877250" y="1546000"/>
            <a:ext cx="23187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Speech construction</a:t>
            </a:r>
            <a:endParaRPr sz="1800"/>
          </a:p>
        </p:txBody>
      </p:sp>
      <p:sp>
        <p:nvSpPr>
          <p:cNvPr id="369" name="Google Shape;369;p44"/>
          <p:cNvSpPr txBox="1"/>
          <p:nvPr>
            <p:ph idx="3" type="subTitle"/>
          </p:nvPr>
        </p:nvSpPr>
        <p:spPr>
          <a:xfrm>
            <a:off x="1877250" y="3515601"/>
            <a:ext cx="23187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Currently</a:t>
            </a:r>
            <a:r>
              <a:rPr lang="en"/>
              <a:t> no integration with ASR or LLM to produce readable captions</a:t>
            </a:r>
            <a:endParaRPr/>
          </a:p>
        </p:txBody>
      </p:sp>
      <p:sp>
        <p:nvSpPr>
          <p:cNvPr id="370" name="Google Shape;370;p44"/>
          <p:cNvSpPr txBox="1"/>
          <p:nvPr>
            <p:ph idx="4" type="subTitle"/>
          </p:nvPr>
        </p:nvSpPr>
        <p:spPr>
          <a:xfrm>
            <a:off x="1877250" y="3040799"/>
            <a:ext cx="23187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Incomplete Speech</a:t>
            </a:r>
            <a:endParaRPr sz="1800"/>
          </a:p>
        </p:txBody>
      </p:sp>
      <p:sp>
        <p:nvSpPr>
          <p:cNvPr id="371" name="Google Shape;371;p44"/>
          <p:cNvSpPr txBox="1"/>
          <p:nvPr>
            <p:ph idx="5" type="subTitle"/>
          </p:nvPr>
        </p:nvSpPr>
        <p:spPr>
          <a:xfrm>
            <a:off x="6112075" y="2441800"/>
            <a:ext cx="2318700" cy="12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personalization to the user or emotional adaptation</a:t>
            </a:r>
            <a:endParaRPr/>
          </a:p>
        </p:txBody>
      </p:sp>
      <p:sp>
        <p:nvSpPr>
          <p:cNvPr id="372" name="Google Shape;372;p44"/>
          <p:cNvSpPr txBox="1"/>
          <p:nvPr>
            <p:ph idx="6" type="subTitle"/>
          </p:nvPr>
        </p:nvSpPr>
        <p:spPr>
          <a:xfrm>
            <a:off x="6112075" y="1546000"/>
            <a:ext cx="2318700" cy="89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Context-aware dialogue generation</a:t>
            </a:r>
            <a:endParaRPr sz="1800"/>
          </a:p>
        </p:txBody>
      </p:sp>
      <p:grpSp>
        <p:nvGrpSpPr>
          <p:cNvPr id="373" name="Google Shape;373;p44"/>
          <p:cNvGrpSpPr/>
          <p:nvPr/>
        </p:nvGrpSpPr>
        <p:grpSpPr>
          <a:xfrm>
            <a:off x="5335112" y="1805193"/>
            <a:ext cx="548625" cy="540313"/>
            <a:chOff x="5739031" y="4143974"/>
            <a:chExt cx="455253" cy="451390"/>
          </a:xfrm>
        </p:grpSpPr>
        <p:sp>
          <p:nvSpPr>
            <p:cNvPr id="374" name="Google Shape;374;p44"/>
            <p:cNvSpPr/>
            <p:nvPr/>
          </p:nvSpPr>
          <p:spPr>
            <a:xfrm>
              <a:off x="5739031" y="4408031"/>
              <a:ext cx="455253" cy="187333"/>
            </a:xfrm>
            <a:custGeom>
              <a:rect b="b" l="l" r="r" t="t"/>
              <a:pathLst>
                <a:path extrusionOk="0" h="4268" w="10372">
                  <a:moveTo>
                    <a:pt x="408" y="0"/>
                  </a:moveTo>
                  <a:cubicBezTo>
                    <a:pt x="177" y="0"/>
                    <a:pt x="1" y="187"/>
                    <a:pt x="1" y="418"/>
                  </a:cubicBezTo>
                  <a:lnTo>
                    <a:pt x="1" y="1210"/>
                  </a:lnTo>
                  <a:cubicBezTo>
                    <a:pt x="1" y="1298"/>
                    <a:pt x="67" y="1364"/>
                    <a:pt x="144" y="1364"/>
                  </a:cubicBezTo>
                  <a:cubicBezTo>
                    <a:pt x="232" y="1364"/>
                    <a:pt x="298" y="1298"/>
                    <a:pt x="298" y="1210"/>
                  </a:cubicBezTo>
                  <a:lnTo>
                    <a:pt x="298" y="418"/>
                  </a:lnTo>
                  <a:cubicBezTo>
                    <a:pt x="298" y="352"/>
                    <a:pt x="353" y="308"/>
                    <a:pt x="408" y="308"/>
                  </a:cubicBezTo>
                  <a:lnTo>
                    <a:pt x="1980" y="308"/>
                  </a:lnTo>
                  <a:cubicBezTo>
                    <a:pt x="2046" y="308"/>
                    <a:pt x="2090" y="352"/>
                    <a:pt x="2090" y="418"/>
                  </a:cubicBezTo>
                  <a:lnTo>
                    <a:pt x="2090" y="3860"/>
                  </a:lnTo>
                  <a:cubicBezTo>
                    <a:pt x="2090" y="3915"/>
                    <a:pt x="2046" y="3970"/>
                    <a:pt x="1980" y="3970"/>
                  </a:cubicBezTo>
                  <a:lnTo>
                    <a:pt x="408" y="3970"/>
                  </a:lnTo>
                  <a:cubicBezTo>
                    <a:pt x="353" y="3970"/>
                    <a:pt x="298" y="3915"/>
                    <a:pt x="298" y="3860"/>
                  </a:cubicBezTo>
                  <a:lnTo>
                    <a:pt x="298" y="1815"/>
                  </a:lnTo>
                  <a:cubicBezTo>
                    <a:pt x="298" y="1727"/>
                    <a:pt x="232" y="1661"/>
                    <a:pt x="144" y="1661"/>
                  </a:cubicBezTo>
                  <a:cubicBezTo>
                    <a:pt x="67" y="1661"/>
                    <a:pt x="1" y="1727"/>
                    <a:pt x="1" y="1815"/>
                  </a:cubicBezTo>
                  <a:lnTo>
                    <a:pt x="1" y="3860"/>
                  </a:lnTo>
                  <a:cubicBezTo>
                    <a:pt x="1" y="4091"/>
                    <a:pt x="177" y="4267"/>
                    <a:pt x="408" y="4267"/>
                  </a:cubicBezTo>
                  <a:lnTo>
                    <a:pt x="1980" y="4267"/>
                  </a:lnTo>
                  <a:cubicBezTo>
                    <a:pt x="2211" y="4267"/>
                    <a:pt x="2387" y="4091"/>
                    <a:pt x="2387" y="3860"/>
                  </a:cubicBezTo>
                  <a:lnTo>
                    <a:pt x="2387" y="3706"/>
                  </a:lnTo>
                  <a:lnTo>
                    <a:pt x="2838" y="3893"/>
                  </a:lnTo>
                  <a:cubicBezTo>
                    <a:pt x="3377" y="4113"/>
                    <a:pt x="3938" y="4223"/>
                    <a:pt x="4499" y="4223"/>
                  </a:cubicBezTo>
                  <a:cubicBezTo>
                    <a:pt x="4994" y="4223"/>
                    <a:pt x="5488" y="4135"/>
                    <a:pt x="5961" y="3970"/>
                  </a:cubicBezTo>
                  <a:lnTo>
                    <a:pt x="7787" y="3322"/>
                  </a:lnTo>
                  <a:cubicBezTo>
                    <a:pt x="7875" y="3300"/>
                    <a:pt x="7908" y="3212"/>
                    <a:pt x="7886" y="3135"/>
                  </a:cubicBezTo>
                  <a:cubicBezTo>
                    <a:pt x="7860" y="3075"/>
                    <a:pt x="7802" y="3036"/>
                    <a:pt x="7742" y="3036"/>
                  </a:cubicBezTo>
                  <a:cubicBezTo>
                    <a:pt x="7724" y="3036"/>
                    <a:pt x="7706" y="3039"/>
                    <a:pt x="7688" y="3047"/>
                  </a:cubicBezTo>
                  <a:lnTo>
                    <a:pt x="5862" y="3684"/>
                  </a:lnTo>
                  <a:cubicBezTo>
                    <a:pt x="5419" y="3839"/>
                    <a:pt x="4956" y="3916"/>
                    <a:pt x="4495" y="3916"/>
                  </a:cubicBezTo>
                  <a:cubicBezTo>
                    <a:pt x="3972" y="3916"/>
                    <a:pt x="3450" y="3817"/>
                    <a:pt x="2959" y="3618"/>
                  </a:cubicBezTo>
                  <a:lnTo>
                    <a:pt x="2387" y="3388"/>
                  </a:lnTo>
                  <a:lnTo>
                    <a:pt x="2387" y="1012"/>
                  </a:lnTo>
                  <a:lnTo>
                    <a:pt x="3443" y="484"/>
                  </a:lnTo>
                  <a:cubicBezTo>
                    <a:pt x="3623" y="394"/>
                    <a:pt x="3819" y="350"/>
                    <a:pt x="4015" y="350"/>
                  </a:cubicBezTo>
                  <a:cubicBezTo>
                    <a:pt x="4249" y="350"/>
                    <a:pt x="4482" y="413"/>
                    <a:pt x="4686" y="539"/>
                  </a:cubicBezTo>
                  <a:lnTo>
                    <a:pt x="5378" y="957"/>
                  </a:lnTo>
                  <a:cubicBezTo>
                    <a:pt x="5623" y="1104"/>
                    <a:pt x="5902" y="1181"/>
                    <a:pt x="6177" y="1181"/>
                  </a:cubicBezTo>
                  <a:cubicBezTo>
                    <a:pt x="6211" y="1181"/>
                    <a:pt x="6246" y="1180"/>
                    <a:pt x="6280" y="1177"/>
                  </a:cubicBezTo>
                  <a:lnTo>
                    <a:pt x="6874" y="1133"/>
                  </a:lnTo>
                  <a:cubicBezTo>
                    <a:pt x="6887" y="1132"/>
                    <a:pt x="6899" y="1131"/>
                    <a:pt x="6911" y="1131"/>
                  </a:cubicBezTo>
                  <a:cubicBezTo>
                    <a:pt x="6995" y="1131"/>
                    <a:pt x="7071" y="1163"/>
                    <a:pt x="7138" y="1221"/>
                  </a:cubicBezTo>
                  <a:cubicBezTo>
                    <a:pt x="7215" y="1287"/>
                    <a:pt x="7248" y="1386"/>
                    <a:pt x="7248" y="1485"/>
                  </a:cubicBezTo>
                  <a:cubicBezTo>
                    <a:pt x="7248" y="1650"/>
                    <a:pt x="7127" y="1804"/>
                    <a:pt x="6962" y="1826"/>
                  </a:cubicBezTo>
                  <a:lnTo>
                    <a:pt x="6951" y="1826"/>
                  </a:lnTo>
                  <a:lnTo>
                    <a:pt x="5708" y="2046"/>
                  </a:lnTo>
                  <a:cubicBezTo>
                    <a:pt x="5527" y="2079"/>
                    <a:pt x="5343" y="2095"/>
                    <a:pt x="5157" y="2095"/>
                  </a:cubicBezTo>
                  <a:cubicBezTo>
                    <a:pt x="4972" y="2095"/>
                    <a:pt x="4785" y="2079"/>
                    <a:pt x="4598" y="2046"/>
                  </a:cubicBezTo>
                  <a:lnTo>
                    <a:pt x="4114" y="1958"/>
                  </a:lnTo>
                  <a:cubicBezTo>
                    <a:pt x="4107" y="1957"/>
                    <a:pt x="4101" y="1956"/>
                    <a:pt x="4094" y="1956"/>
                  </a:cubicBezTo>
                  <a:cubicBezTo>
                    <a:pt x="4024" y="1956"/>
                    <a:pt x="3958" y="2008"/>
                    <a:pt x="3938" y="2079"/>
                  </a:cubicBezTo>
                  <a:cubicBezTo>
                    <a:pt x="3927" y="2167"/>
                    <a:pt x="3982" y="2244"/>
                    <a:pt x="4059" y="2255"/>
                  </a:cubicBezTo>
                  <a:lnTo>
                    <a:pt x="4543" y="2343"/>
                  </a:lnTo>
                  <a:cubicBezTo>
                    <a:pt x="4746" y="2376"/>
                    <a:pt x="4950" y="2392"/>
                    <a:pt x="5153" y="2392"/>
                  </a:cubicBezTo>
                  <a:cubicBezTo>
                    <a:pt x="5356" y="2392"/>
                    <a:pt x="5560" y="2376"/>
                    <a:pt x="5763" y="2343"/>
                  </a:cubicBezTo>
                  <a:cubicBezTo>
                    <a:pt x="5763" y="2343"/>
                    <a:pt x="7006" y="2123"/>
                    <a:pt x="7006" y="2123"/>
                  </a:cubicBezTo>
                  <a:lnTo>
                    <a:pt x="9557" y="1639"/>
                  </a:lnTo>
                  <a:cubicBezTo>
                    <a:pt x="9580" y="1635"/>
                    <a:pt x="9603" y="1633"/>
                    <a:pt x="9625" y="1633"/>
                  </a:cubicBezTo>
                  <a:cubicBezTo>
                    <a:pt x="9774" y="1633"/>
                    <a:pt x="9907" y="1726"/>
                    <a:pt x="9964" y="1870"/>
                  </a:cubicBezTo>
                  <a:cubicBezTo>
                    <a:pt x="10030" y="2046"/>
                    <a:pt x="9931" y="2255"/>
                    <a:pt x="9744" y="2321"/>
                  </a:cubicBezTo>
                  <a:lnTo>
                    <a:pt x="8271" y="2838"/>
                  </a:lnTo>
                  <a:cubicBezTo>
                    <a:pt x="8183" y="2871"/>
                    <a:pt x="8150" y="2959"/>
                    <a:pt x="8172" y="3036"/>
                  </a:cubicBezTo>
                  <a:cubicBezTo>
                    <a:pt x="8197" y="3095"/>
                    <a:pt x="8255" y="3135"/>
                    <a:pt x="8316" y="3135"/>
                  </a:cubicBezTo>
                  <a:cubicBezTo>
                    <a:pt x="8334" y="3135"/>
                    <a:pt x="8352" y="3131"/>
                    <a:pt x="8370" y="3124"/>
                  </a:cubicBezTo>
                  <a:lnTo>
                    <a:pt x="9843" y="2607"/>
                  </a:lnTo>
                  <a:cubicBezTo>
                    <a:pt x="10195" y="2486"/>
                    <a:pt x="10371" y="2101"/>
                    <a:pt x="10239" y="1760"/>
                  </a:cubicBezTo>
                  <a:lnTo>
                    <a:pt x="10250" y="1760"/>
                  </a:lnTo>
                  <a:cubicBezTo>
                    <a:pt x="10156" y="1495"/>
                    <a:pt x="9907" y="1328"/>
                    <a:pt x="9637" y="1328"/>
                  </a:cubicBezTo>
                  <a:cubicBezTo>
                    <a:pt x="9592" y="1328"/>
                    <a:pt x="9547" y="1333"/>
                    <a:pt x="9502" y="1342"/>
                  </a:cubicBezTo>
                  <a:lnTo>
                    <a:pt x="7501" y="1727"/>
                  </a:lnTo>
                  <a:cubicBezTo>
                    <a:pt x="7534" y="1650"/>
                    <a:pt x="7556" y="1562"/>
                    <a:pt x="7556" y="1485"/>
                  </a:cubicBezTo>
                  <a:cubicBezTo>
                    <a:pt x="7556" y="1298"/>
                    <a:pt x="7479" y="1122"/>
                    <a:pt x="7347" y="1001"/>
                  </a:cubicBezTo>
                  <a:cubicBezTo>
                    <a:pt x="7225" y="889"/>
                    <a:pt x="7055" y="824"/>
                    <a:pt x="6890" y="824"/>
                  </a:cubicBezTo>
                  <a:cubicBezTo>
                    <a:pt x="6878" y="824"/>
                    <a:pt x="6865" y="824"/>
                    <a:pt x="6852" y="825"/>
                  </a:cubicBezTo>
                  <a:lnTo>
                    <a:pt x="6258" y="869"/>
                  </a:lnTo>
                  <a:cubicBezTo>
                    <a:pt x="6226" y="872"/>
                    <a:pt x="6194" y="873"/>
                    <a:pt x="6162" y="873"/>
                  </a:cubicBezTo>
                  <a:cubicBezTo>
                    <a:pt x="5942" y="873"/>
                    <a:pt x="5726" y="808"/>
                    <a:pt x="5543" y="693"/>
                  </a:cubicBezTo>
                  <a:lnTo>
                    <a:pt x="4840" y="275"/>
                  </a:lnTo>
                  <a:cubicBezTo>
                    <a:pt x="4589" y="120"/>
                    <a:pt x="4307" y="43"/>
                    <a:pt x="4022" y="43"/>
                  </a:cubicBezTo>
                  <a:cubicBezTo>
                    <a:pt x="3781" y="43"/>
                    <a:pt x="3538" y="98"/>
                    <a:pt x="3311" y="209"/>
                  </a:cubicBezTo>
                  <a:lnTo>
                    <a:pt x="2387" y="671"/>
                  </a:lnTo>
                  <a:lnTo>
                    <a:pt x="2387" y="418"/>
                  </a:lnTo>
                  <a:cubicBezTo>
                    <a:pt x="2387" y="187"/>
                    <a:pt x="2211" y="0"/>
                    <a:pt x="19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44"/>
            <p:cNvSpPr/>
            <p:nvPr/>
          </p:nvSpPr>
          <p:spPr>
            <a:xfrm>
              <a:off x="5795520" y="4526760"/>
              <a:ext cx="13080" cy="29979"/>
            </a:xfrm>
            <a:custGeom>
              <a:rect b="b" l="l" r="r" t="t"/>
              <a:pathLst>
                <a:path extrusionOk="0" h="683" w="298">
                  <a:moveTo>
                    <a:pt x="154" y="1"/>
                  </a:moveTo>
                  <a:cubicBezTo>
                    <a:pt x="67" y="1"/>
                    <a:pt x="1" y="67"/>
                    <a:pt x="1" y="155"/>
                  </a:cubicBezTo>
                  <a:lnTo>
                    <a:pt x="1" y="540"/>
                  </a:lnTo>
                  <a:cubicBezTo>
                    <a:pt x="1" y="617"/>
                    <a:pt x="67" y="683"/>
                    <a:pt x="154" y="683"/>
                  </a:cubicBezTo>
                  <a:cubicBezTo>
                    <a:pt x="231" y="683"/>
                    <a:pt x="297" y="617"/>
                    <a:pt x="297" y="540"/>
                  </a:cubicBezTo>
                  <a:lnTo>
                    <a:pt x="297" y="155"/>
                  </a:lnTo>
                  <a:cubicBezTo>
                    <a:pt x="297" y="67"/>
                    <a:pt x="231" y="1"/>
                    <a:pt x="1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44"/>
            <p:cNvSpPr/>
            <p:nvPr/>
          </p:nvSpPr>
          <p:spPr>
            <a:xfrm>
              <a:off x="6004536" y="4143974"/>
              <a:ext cx="13563" cy="41566"/>
            </a:xfrm>
            <a:custGeom>
              <a:rect b="b" l="l" r="r" t="t"/>
              <a:pathLst>
                <a:path extrusionOk="0" h="947" w="309">
                  <a:moveTo>
                    <a:pt x="154" y="1"/>
                  </a:moveTo>
                  <a:cubicBezTo>
                    <a:pt x="77" y="1"/>
                    <a:pt x="0" y="67"/>
                    <a:pt x="0" y="155"/>
                  </a:cubicBezTo>
                  <a:lnTo>
                    <a:pt x="0" y="793"/>
                  </a:lnTo>
                  <a:cubicBezTo>
                    <a:pt x="0" y="881"/>
                    <a:pt x="77" y="947"/>
                    <a:pt x="154" y="947"/>
                  </a:cubicBezTo>
                  <a:cubicBezTo>
                    <a:pt x="242" y="947"/>
                    <a:pt x="308" y="881"/>
                    <a:pt x="308" y="793"/>
                  </a:cubicBezTo>
                  <a:lnTo>
                    <a:pt x="308" y="155"/>
                  </a:lnTo>
                  <a:cubicBezTo>
                    <a:pt x="308" y="67"/>
                    <a:pt x="242" y="1"/>
                    <a:pt x="1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44"/>
            <p:cNvSpPr/>
            <p:nvPr/>
          </p:nvSpPr>
          <p:spPr>
            <a:xfrm>
              <a:off x="6081259" y="4184180"/>
              <a:ext cx="34807" cy="33490"/>
            </a:xfrm>
            <a:custGeom>
              <a:rect b="b" l="l" r="r" t="t"/>
              <a:pathLst>
                <a:path extrusionOk="0" h="763" w="793">
                  <a:moveTo>
                    <a:pt x="628" y="0"/>
                  </a:moveTo>
                  <a:cubicBezTo>
                    <a:pt x="589" y="0"/>
                    <a:pt x="551" y="14"/>
                    <a:pt x="518" y="42"/>
                  </a:cubicBezTo>
                  <a:lnTo>
                    <a:pt x="67" y="504"/>
                  </a:lnTo>
                  <a:cubicBezTo>
                    <a:pt x="1" y="559"/>
                    <a:pt x="1" y="658"/>
                    <a:pt x="67" y="713"/>
                  </a:cubicBezTo>
                  <a:cubicBezTo>
                    <a:pt x="94" y="746"/>
                    <a:pt x="133" y="762"/>
                    <a:pt x="171" y="762"/>
                  </a:cubicBezTo>
                  <a:cubicBezTo>
                    <a:pt x="210" y="762"/>
                    <a:pt x="248" y="746"/>
                    <a:pt x="276" y="713"/>
                  </a:cubicBezTo>
                  <a:lnTo>
                    <a:pt x="738" y="262"/>
                  </a:lnTo>
                  <a:cubicBezTo>
                    <a:pt x="793" y="196"/>
                    <a:pt x="793" y="108"/>
                    <a:pt x="738" y="42"/>
                  </a:cubicBezTo>
                  <a:cubicBezTo>
                    <a:pt x="705" y="14"/>
                    <a:pt x="666" y="0"/>
                    <a:pt x="6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44"/>
            <p:cNvSpPr/>
            <p:nvPr/>
          </p:nvSpPr>
          <p:spPr>
            <a:xfrm>
              <a:off x="5906524" y="4184180"/>
              <a:ext cx="34807" cy="33490"/>
            </a:xfrm>
            <a:custGeom>
              <a:rect b="b" l="l" r="r" t="t"/>
              <a:pathLst>
                <a:path extrusionOk="0" h="763" w="793">
                  <a:moveTo>
                    <a:pt x="171" y="0"/>
                  </a:moveTo>
                  <a:cubicBezTo>
                    <a:pt x="133" y="0"/>
                    <a:pt x="94" y="14"/>
                    <a:pt x="67" y="42"/>
                  </a:cubicBezTo>
                  <a:cubicBezTo>
                    <a:pt x="1" y="108"/>
                    <a:pt x="1" y="196"/>
                    <a:pt x="67" y="262"/>
                  </a:cubicBezTo>
                  <a:lnTo>
                    <a:pt x="518" y="713"/>
                  </a:lnTo>
                  <a:cubicBezTo>
                    <a:pt x="551" y="746"/>
                    <a:pt x="589" y="762"/>
                    <a:pt x="628" y="762"/>
                  </a:cubicBezTo>
                  <a:cubicBezTo>
                    <a:pt x="666" y="762"/>
                    <a:pt x="705" y="746"/>
                    <a:pt x="738" y="713"/>
                  </a:cubicBezTo>
                  <a:cubicBezTo>
                    <a:pt x="793" y="658"/>
                    <a:pt x="793" y="559"/>
                    <a:pt x="738" y="504"/>
                  </a:cubicBezTo>
                  <a:lnTo>
                    <a:pt x="276" y="42"/>
                  </a:lnTo>
                  <a:cubicBezTo>
                    <a:pt x="248" y="14"/>
                    <a:pt x="210" y="0"/>
                    <a:pt x="1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44"/>
            <p:cNvSpPr/>
            <p:nvPr/>
          </p:nvSpPr>
          <p:spPr>
            <a:xfrm>
              <a:off x="5866977" y="4281577"/>
              <a:ext cx="42005" cy="13563"/>
            </a:xfrm>
            <a:custGeom>
              <a:rect b="b" l="l" r="r" t="t"/>
              <a:pathLst>
                <a:path extrusionOk="0" h="309" w="957">
                  <a:moveTo>
                    <a:pt x="154" y="0"/>
                  </a:moveTo>
                  <a:cubicBezTo>
                    <a:pt x="66" y="0"/>
                    <a:pt x="0" y="66"/>
                    <a:pt x="0" y="154"/>
                  </a:cubicBezTo>
                  <a:cubicBezTo>
                    <a:pt x="0" y="242"/>
                    <a:pt x="66" y="308"/>
                    <a:pt x="154" y="308"/>
                  </a:cubicBezTo>
                  <a:lnTo>
                    <a:pt x="803" y="308"/>
                  </a:lnTo>
                  <a:cubicBezTo>
                    <a:pt x="880" y="308"/>
                    <a:pt x="957" y="242"/>
                    <a:pt x="957" y="154"/>
                  </a:cubicBezTo>
                  <a:cubicBezTo>
                    <a:pt x="957" y="66"/>
                    <a:pt x="880" y="0"/>
                    <a:pt x="8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44"/>
            <p:cNvSpPr/>
            <p:nvPr/>
          </p:nvSpPr>
          <p:spPr>
            <a:xfrm>
              <a:off x="6114091" y="4281577"/>
              <a:ext cx="41566" cy="13563"/>
            </a:xfrm>
            <a:custGeom>
              <a:rect b="b" l="l" r="r" t="t"/>
              <a:pathLst>
                <a:path extrusionOk="0" h="309" w="947">
                  <a:moveTo>
                    <a:pt x="155" y="0"/>
                  </a:moveTo>
                  <a:cubicBezTo>
                    <a:pt x="67" y="0"/>
                    <a:pt x="1" y="66"/>
                    <a:pt x="1" y="154"/>
                  </a:cubicBezTo>
                  <a:cubicBezTo>
                    <a:pt x="1" y="242"/>
                    <a:pt x="67" y="308"/>
                    <a:pt x="155" y="308"/>
                  </a:cubicBezTo>
                  <a:lnTo>
                    <a:pt x="803" y="308"/>
                  </a:lnTo>
                  <a:cubicBezTo>
                    <a:pt x="880" y="308"/>
                    <a:pt x="946" y="242"/>
                    <a:pt x="946" y="154"/>
                  </a:cubicBezTo>
                  <a:cubicBezTo>
                    <a:pt x="946" y="66"/>
                    <a:pt x="880" y="0"/>
                    <a:pt x="8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44"/>
            <p:cNvSpPr/>
            <p:nvPr/>
          </p:nvSpPr>
          <p:spPr>
            <a:xfrm>
              <a:off x="5930182" y="4212007"/>
              <a:ext cx="161744" cy="213932"/>
            </a:xfrm>
            <a:custGeom>
              <a:rect b="b" l="l" r="r" t="t"/>
              <a:pathLst>
                <a:path extrusionOk="0" h="4874" w="3685">
                  <a:moveTo>
                    <a:pt x="2519" y="3840"/>
                  </a:moveTo>
                  <a:lnTo>
                    <a:pt x="2519" y="4191"/>
                  </a:lnTo>
                  <a:cubicBezTo>
                    <a:pt x="2519" y="4400"/>
                    <a:pt x="2354" y="4565"/>
                    <a:pt x="2145" y="4565"/>
                  </a:cubicBezTo>
                  <a:lnTo>
                    <a:pt x="1551" y="4565"/>
                  </a:lnTo>
                  <a:cubicBezTo>
                    <a:pt x="1342" y="4565"/>
                    <a:pt x="1177" y="4400"/>
                    <a:pt x="1177" y="4191"/>
                  </a:cubicBezTo>
                  <a:lnTo>
                    <a:pt x="1177" y="3840"/>
                  </a:lnTo>
                  <a:close/>
                  <a:moveTo>
                    <a:pt x="1819" y="1"/>
                  </a:moveTo>
                  <a:cubicBezTo>
                    <a:pt x="1495" y="1"/>
                    <a:pt x="1173" y="99"/>
                    <a:pt x="891" y="277"/>
                  </a:cubicBezTo>
                  <a:cubicBezTo>
                    <a:pt x="826" y="320"/>
                    <a:pt x="804" y="408"/>
                    <a:pt x="848" y="474"/>
                  </a:cubicBezTo>
                  <a:cubicBezTo>
                    <a:pt x="876" y="525"/>
                    <a:pt x="924" y="552"/>
                    <a:pt x="976" y="552"/>
                  </a:cubicBezTo>
                  <a:cubicBezTo>
                    <a:pt x="1002" y="552"/>
                    <a:pt x="1030" y="545"/>
                    <a:pt x="1056" y="529"/>
                  </a:cubicBezTo>
                  <a:cubicBezTo>
                    <a:pt x="1298" y="375"/>
                    <a:pt x="1584" y="298"/>
                    <a:pt x="1870" y="298"/>
                  </a:cubicBezTo>
                  <a:cubicBezTo>
                    <a:pt x="2695" y="309"/>
                    <a:pt x="3377" y="980"/>
                    <a:pt x="3377" y="1838"/>
                  </a:cubicBezTo>
                  <a:cubicBezTo>
                    <a:pt x="3377" y="2344"/>
                    <a:pt x="3124" y="2817"/>
                    <a:pt x="2706" y="3103"/>
                  </a:cubicBezTo>
                  <a:cubicBezTo>
                    <a:pt x="2585" y="3180"/>
                    <a:pt x="2519" y="3312"/>
                    <a:pt x="2519" y="3444"/>
                  </a:cubicBezTo>
                  <a:lnTo>
                    <a:pt x="2519" y="3532"/>
                  </a:lnTo>
                  <a:lnTo>
                    <a:pt x="2002" y="3532"/>
                  </a:lnTo>
                  <a:lnTo>
                    <a:pt x="2002" y="2630"/>
                  </a:lnTo>
                  <a:cubicBezTo>
                    <a:pt x="2200" y="2564"/>
                    <a:pt x="2354" y="2366"/>
                    <a:pt x="2354" y="2146"/>
                  </a:cubicBezTo>
                  <a:cubicBezTo>
                    <a:pt x="2354" y="2058"/>
                    <a:pt x="2288" y="1992"/>
                    <a:pt x="2200" y="1992"/>
                  </a:cubicBezTo>
                  <a:cubicBezTo>
                    <a:pt x="2123" y="1992"/>
                    <a:pt x="2057" y="2058"/>
                    <a:pt x="2057" y="2146"/>
                  </a:cubicBezTo>
                  <a:cubicBezTo>
                    <a:pt x="2057" y="2256"/>
                    <a:pt x="1958" y="2344"/>
                    <a:pt x="1848" y="2344"/>
                  </a:cubicBezTo>
                  <a:cubicBezTo>
                    <a:pt x="1738" y="2344"/>
                    <a:pt x="1639" y="2256"/>
                    <a:pt x="1639" y="2146"/>
                  </a:cubicBezTo>
                  <a:cubicBezTo>
                    <a:pt x="1639" y="2058"/>
                    <a:pt x="1573" y="1992"/>
                    <a:pt x="1496" y="1992"/>
                  </a:cubicBezTo>
                  <a:cubicBezTo>
                    <a:pt x="1408" y="1992"/>
                    <a:pt x="1342" y="2058"/>
                    <a:pt x="1342" y="2146"/>
                  </a:cubicBezTo>
                  <a:cubicBezTo>
                    <a:pt x="1342" y="2366"/>
                    <a:pt x="1485" y="2564"/>
                    <a:pt x="1694" y="2630"/>
                  </a:cubicBezTo>
                  <a:lnTo>
                    <a:pt x="1694" y="3532"/>
                  </a:lnTo>
                  <a:lnTo>
                    <a:pt x="1177" y="3532"/>
                  </a:lnTo>
                  <a:lnTo>
                    <a:pt x="1177" y="3444"/>
                  </a:lnTo>
                  <a:cubicBezTo>
                    <a:pt x="1177" y="3312"/>
                    <a:pt x="1111" y="3180"/>
                    <a:pt x="990" y="3103"/>
                  </a:cubicBezTo>
                  <a:cubicBezTo>
                    <a:pt x="562" y="2817"/>
                    <a:pt x="309" y="2333"/>
                    <a:pt x="320" y="1805"/>
                  </a:cubicBezTo>
                  <a:cubicBezTo>
                    <a:pt x="320" y="1475"/>
                    <a:pt x="430" y="1156"/>
                    <a:pt x="639" y="892"/>
                  </a:cubicBezTo>
                  <a:cubicBezTo>
                    <a:pt x="694" y="826"/>
                    <a:pt x="683" y="738"/>
                    <a:pt x="617" y="683"/>
                  </a:cubicBezTo>
                  <a:cubicBezTo>
                    <a:pt x="588" y="660"/>
                    <a:pt x="553" y="648"/>
                    <a:pt x="520" y="648"/>
                  </a:cubicBezTo>
                  <a:cubicBezTo>
                    <a:pt x="475" y="648"/>
                    <a:pt x="433" y="668"/>
                    <a:pt x="408" y="705"/>
                  </a:cubicBezTo>
                  <a:cubicBezTo>
                    <a:pt x="155" y="1024"/>
                    <a:pt x="23" y="1398"/>
                    <a:pt x="12" y="1805"/>
                  </a:cubicBezTo>
                  <a:cubicBezTo>
                    <a:pt x="1" y="2421"/>
                    <a:pt x="309" y="3004"/>
                    <a:pt x="826" y="3356"/>
                  </a:cubicBezTo>
                  <a:cubicBezTo>
                    <a:pt x="859" y="3378"/>
                    <a:pt x="880" y="3411"/>
                    <a:pt x="880" y="3444"/>
                  </a:cubicBezTo>
                  <a:lnTo>
                    <a:pt x="880" y="4191"/>
                  </a:lnTo>
                  <a:cubicBezTo>
                    <a:pt x="880" y="4565"/>
                    <a:pt x="1177" y="4873"/>
                    <a:pt x="1551" y="4873"/>
                  </a:cubicBezTo>
                  <a:lnTo>
                    <a:pt x="2145" y="4873"/>
                  </a:lnTo>
                  <a:cubicBezTo>
                    <a:pt x="2519" y="4873"/>
                    <a:pt x="2827" y="4565"/>
                    <a:pt x="2827" y="4191"/>
                  </a:cubicBezTo>
                  <a:lnTo>
                    <a:pt x="2827" y="3444"/>
                  </a:lnTo>
                  <a:cubicBezTo>
                    <a:pt x="2827" y="3411"/>
                    <a:pt x="2838" y="3378"/>
                    <a:pt x="2871" y="3356"/>
                  </a:cubicBezTo>
                  <a:cubicBezTo>
                    <a:pt x="3377" y="3015"/>
                    <a:pt x="3685" y="2443"/>
                    <a:pt x="3685" y="1838"/>
                  </a:cubicBezTo>
                  <a:cubicBezTo>
                    <a:pt x="3685" y="837"/>
                    <a:pt x="2882" y="13"/>
                    <a:pt x="1870" y="2"/>
                  </a:cubicBezTo>
                  <a:cubicBezTo>
                    <a:pt x="1853" y="1"/>
                    <a:pt x="1836" y="1"/>
                    <a:pt x="1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2" name="Google Shape;382;p44"/>
          <p:cNvGrpSpPr/>
          <p:nvPr/>
        </p:nvGrpSpPr>
        <p:grpSpPr>
          <a:xfrm>
            <a:off x="1099433" y="3505423"/>
            <a:ext cx="550334" cy="469129"/>
            <a:chOff x="-6481175" y="2780663"/>
            <a:chExt cx="1402125" cy="1189475"/>
          </a:xfrm>
        </p:grpSpPr>
        <p:sp>
          <p:nvSpPr>
            <p:cNvPr id="383" name="Google Shape;383;p44"/>
            <p:cNvSpPr/>
            <p:nvPr/>
          </p:nvSpPr>
          <p:spPr>
            <a:xfrm>
              <a:off x="-6480600" y="3429563"/>
              <a:ext cx="1401550" cy="540575"/>
            </a:xfrm>
            <a:custGeom>
              <a:rect b="b" l="l" r="r" t="t"/>
              <a:pathLst>
                <a:path extrusionOk="0" h="21623" w="56062">
                  <a:moveTo>
                    <a:pt x="40786" y="8402"/>
                  </a:moveTo>
                  <a:cubicBezTo>
                    <a:pt x="44126" y="8402"/>
                    <a:pt x="47463" y="9039"/>
                    <a:pt x="50638" y="10314"/>
                  </a:cubicBezTo>
                  <a:lnTo>
                    <a:pt x="52724" y="11148"/>
                  </a:lnTo>
                  <a:lnTo>
                    <a:pt x="52724" y="14879"/>
                  </a:lnTo>
                  <a:lnTo>
                    <a:pt x="28854" y="14879"/>
                  </a:lnTo>
                  <a:lnTo>
                    <a:pt x="28854" y="11148"/>
                  </a:lnTo>
                  <a:lnTo>
                    <a:pt x="30916" y="10314"/>
                  </a:lnTo>
                  <a:cubicBezTo>
                    <a:pt x="34103" y="9039"/>
                    <a:pt x="37446" y="8402"/>
                    <a:pt x="40786" y="8402"/>
                  </a:cubicBezTo>
                  <a:close/>
                  <a:moveTo>
                    <a:pt x="15261" y="8402"/>
                  </a:moveTo>
                  <a:cubicBezTo>
                    <a:pt x="18604" y="8402"/>
                    <a:pt x="21947" y="9039"/>
                    <a:pt x="25122" y="10314"/>
                  </a:cubicBezTo>
                  <a:lnTo>
                    <a:pt x="27208" y="11148"/>
                  </a:lnTo>
                  <a:lnTo>
                    <a:pt x="27208" y="14879"/>
                  </a:lnTo>
                  <a:lnTo>
                    <a:pt x="19259" y="14879"/>
                  </a:lnTo>
                  <a:cubicBezTo>
                    <a:pt x="18796" y="14879"/>
                    <a:pt x="18448" y="15250"/>
                    <a:pt x="18448" y="15690"/>
                  </a:cubicBezTo>
                  <a:cubicBezTo>
                    <a:pt x="18448" y="16154"/>
                    <a:pt x="18796" y="16524"/>
                    <a:pt x="19259" y="16524"/>
                  </a:cubicBezTo>
                  <a:lnTo>
                    <a:pt x="54416" y="16524"/>
                  </a:lnTo>
                  <a:lnTo>
                    <a:pt x="54416" y="18286"/>
                  </a:lnTo>
                  <a:lnTo>
                    <a:pt x="30383" y="18286"/>
                  </a:lnTo>
                  <a:cubicBezTo>
                    <a:pt x="29711" y="18286"/>
                    <a:pt x="29085" y="18726"/>
                    <a:pt x="28854" y="19375"/>
                  </a:cubicBezTo>
                  <a:cubicBezTo>
                    <a:pt x="28738" y="19746"/>
                    <a:pt x="28390" y="19978"/>
                    <a:pt x="28019" y="19978"/>
                  </a:cubicBezTo>
                  <a:cubicBezTo>
                    <a:pt x="27649" y="19978"/>
                    <a:pt x="27324" y="19746"/>
                    <a:pt x="27185" y="19375"/>
                  </a:cubicBezTo>
                  <a:cubicBezTo>
                    <a:pt x="26953" y="18726"/>
                    <a:pt x="26351" y="18286"/>
                    <a:pt x="25655" y="18286"/>
                  </a:cubicBezTo>
                  <a:lnTo>
                    <a:pt x="1623" y="18286"/>
                  </a:lnTo>
                  <a:lnTo>
                    <a:pt x="1623" y="16524"/>
                  </a:lnTo>
                  <a:lnTo>
                    <a:pt x="15435" y="16524"/>
                  </a:lnTo>
                  <a:cubicBezTo>
                    <a:pt x="15876" y="16524"/>
                    <a:pt x="16246" y="16154"/>
                    <a:pt x="16246" y="15690"/>
                  </a:cubicBezTo>
                  <a:cubicBezTo>
                    <a:pt x="16246" y="15250"/>
                    <a:pt x="15876" y="14879"/>
                    <a:pt x="15435" y="14879"/>
                  </a:cubicBezTo>
                  <a:lnTo>
                    <a:pt x="3338" y="14879"/>
                  </a:lnTo>
                  <a:lnTo>
                    <a:pt x="3338" y="11148"/>
                  </a:lnTo>
                  <a:lnTo>
                    <a:pt x="5400" y="10314"/>
                  </a:lnTo>
                  <a:cubicBezTo>
                    <a:pt x="8575" y="9039"/>
                    <a:pt x="11918" y="8402"/>
                    <a:pt x="15261" y="8402"/>
                  </a:cubicBezTo>
                  <a:close/>
                  <a:moveTo>
                    <a:pt x="51403" y="1"/>
                  </a:moveTo>
                  <a:lnTo>
                    <a:pt x="48807" y="47"/>
                  </a:lnTo>
                  <a:cubicBezTo>
                    <a:pt x="41530" y="140"/>
                    <a:pt x="34647" y="2967"/>
                    <a:pt x="29456" y="8066"/>
                  </a:cubicBezTo>
                  <a:lnTo>
                    <a:pt x="27950" y="9502"/>
                  </a:lnTo>
                  <a:lnTo>
                    <a:pt x="26281" y="8274"/>
                  </a:lnTo>
                  <a:cubicBezTo>
                    <a:pt x="21381" y="4604"/>
                    <a:pt x="15510" y="2644"/>
                    <a:pt x="9459" y="2644"/>
                  </a:cubicBezTo>
                  <a:cubicBezTo>
                    <a:pt x="8327" y="2644"/>
                    <a:pt x="7189" y="2712"/>
                    <a:pt x="6049" y="2851"/>
                  </a:cubicBezTo>
                  <a:lnTo>
                    <a:pt x="3477" y="3152"/>
                  </a:lnTo>
                  <a:cubicBezTo>
                    <a:pt x="3013" y="3199"/>
                    <a:pt x="2689" y="3616"/>
                    <a:pt x="2758" y="4056"/>
                  </a:cubicBezTo>
                  <a:cubicBezTo>
                    <a:pt x="2801" y="4478"/>
                    <a:pt x="3149" y="4784"/>
                    <a:pt x="3543" y="4784"/>
                  </a:cubicBezTo>
                  <a:cubicBezTo>
                    <a:pt x="3582" y="4784"/>
                    <a:pt x="3622" y="4781"/>
                    <a:pt x="3662" y="4775"/>
                  </a:cubicBezTo>
                  <a:lnTo>
                    <a:pt x="6258" y="4473"/>
                  </a:lnTo>
                  <a:cubicBezTo>
                    <a:pt x="7315" y="4347"/>
                    <a:pt x="8372" y="4285"/>
                    <a:pt x="9424" y="4285"/>
                  </a:cubicBezTo>
                  <a:cubicBezTo>
                    <a:pt x="13977" y="4285"/>
                    <a:pt x="18439" y="5455"/>
                    <a:pt x="22411" y="7695"/>
                  </a:cubicBezTo>
                  <a:cubicBezTo>
                    <a:pt x="20064" y="7078"/>
                    <a:pt x="17665" y="6770"/>
                    <a:pt x="15266" y="6770"/>
                  </a:cubicBezTo>
                  <a:cubicBezTo>
                    <a:pt x="11718" y="6770"/>
                    <a:pt x="8171" y="7443"/>
                    <a:pt x="4798" y="8784"/>
                  </a:cubicBezTo>
                  <a:lnTo>
                    <a:pt x="2388" y="9757"/>
                  </a:lnTo>
                  <a:cubicBezTo>
                    <a:pt x="1970" y="9920"/>
                    <a:pt x="1692" y="10314"/>
                    <a:pt x="1692" y="10777"/>
                  </a:cubicBezTo>
                  <a:lnTo>
                    <a:pt x="1692" y="14879"/>
                  </a:lnTo>
                  <a:lnTo>
                    <a:pt x="1623" y="14879"/>
                  </a:lnTo>
                  <a:cubicBezTo>
                    <a:pt x="719" y="14879"/>
                    <a:pt x="1" y="15597"/>
                    <a:pt x="1" y="16524"/>
                  </a:cubicBezTo>
                  <a:lnTo>
                    <a:pt x="1" y="18263"/>
                  </a:lnTo>
                  <a:cubicBezTo>
                    <a:pt x="1" y="19190"/>
                    <a:pt x="719" y="19908"/>
                    <a:pt x="1623" y="19908"/>
                  </a:cubicBezTo>
                  <a:lnTo>
                    <a:pt x="25655" y="19908"/>
                  </a:lnTo>
                  <a:cubicBezTo>
                    <a:pt x="25655" y="19908"/>
                    <a:pt x="25655" y="19908"/>
                    <a:pt x="25655" y="19931"/>
                  </a:cubicBezTo>
                  <a:cubicBezTo>
                    <a:pt x="26003" y="20928"/>
                    <a:pt x="26953" y="21623"/>
                    <a:pt x="28042" y="21623"/>
                  </a:cubicBezTo>
                  <a:cubicBezTo>
                    <a:pt x="29109" y="21623"/>
                    <a:pt x="30059" y="20928"/>
                    <a:pt x="30406" y="19931"/>
                  </a:cubicBezTo>
                  <a:lnTo>
                    <a:pt x="30406" y="19908"/>
                  </a:lnTo>
                  <a:lnTo>
                    <a:pt x="54439" y="19908"/>
                  </a:lnTo>
                  <a:cubicBezTo>
                    <a:pt x="55343" y="19908"/>
                    <a:pt x="56061" y="19190"/>
                    <a:pt x="56061" y="18263"/>
                  </a:cubicBezTo>
                  <a:lnTo>
                    <a:pt x="56061" y="16524"/>
                  </a:lnTo>
                  <a:cubicBezTo>
                    <a:pt x="56061" y="15597"/>
                    <a:pt x="55343" y="14879"/>
                    <a:pt x="54439" y="14879"/>
                  </a:cubicBezTo>
                  <a:lnTo>
                    <a:pt x="54370" y="14879"/>
                  </a:lnTo>
                  <a:lnTo>
                    <a:pt x="54370" y="10777"/>
                  </a:lnTo>
                  <a:cubicBezTo>
                    <a:pt x="54370" y="10314"/>
                    <a:pt x="54091" y="9920"/>
                    <a:pt x="53674" y="9757"/>
                  </a:cubicBezTo>
                  <a:lnTo>
                    <a:pt x="51264" y="8784"/>
                  </a:lnTo>
                  <a:cubicBezTo>
                    <a:pt x="47880" y="7438"/>
                    <a:pt x="44331" y="6763"/>
                    <a:pt x="40787" y="6763"/>
                  </a:cubicBezTo>
                  <a:cubicBezTo>
                    <a:pt x="37680" y="6763"/>
                    <a:pt x="34576" y="7281"/>
                    <a:pt x="31588" y="8320"/>
                  </a:cubicBezTo>
                  <a:cubicBezTo>
                    <a:pt x="36339" y="4103"/>
                    <a:pt x="42411" y="1762"/>
                    <a:pt x="48831" y="1692"/>
                  </a:cubicBezTo>
                  <a:lnTo>
                    <a:pt x="51426" y="1646"/>
                  </a:lnTo>
                  <a:cubicBezTo>
                    <a:pt x="51890" y="1646"/>
                    <a:pt x="52237" y="1275"/>
                    <a:pt x="52237" y="812"/>
                  </a:cubicBezTo>
                  <a:cubicBezTo>
                    <a:pt x="52237" y="371"/>
                    <a:pt x="51867" y="1"/>
                    <a:pt x="514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44"/>
            <p:cNvSpPr/>
            <p:nvPr/>
          </p:nvSpPr>
          <p:spPr>
            <a:xfrm>
              <a:off x="-5989275" y="2908088"/>
              <a:ext cx="418900" cy="636800"/>
            </a:xfrm>
            <a:custGeom>
              <a:rect b="b" l="l" r="r" t="t"/>
              <a:pathLst>
                <a:path extrusionOk="0" h="25472" w="16756">
                  <a:moveTo>
                    <a:pt x="8575" y="1647"/>
                  </a:moveTo>
                  <a:cubicBezTo>
                    <a:pt x="12190" y="1740"/>
                    <a:pt x="15110" y="4753"/>
                    <a:pt x="15110" y="8368"/>
                  </a:cubicBezTo>
                  <a:cubicBezTo>
                    <a:pt x="15110" y="9318"/>
                    <a:pt x="14879" y="11729"/>
                    <a:pt x="12677" y="13583"/>
                  </a:cubicBezTo>
                  <a:cubicBezTo>
                    <a:pt x="12399" y="13814"/>
                    <a:pt x="12167" y="14092"/>
                    <a:pt x="11982" y="14417"/>
                  </a:cubicBezTo>
                  <a:lnTo>
                    <a:pt x="10985" y="16456"/>
                  </a:lnTo>
                  <a:cubicBezTo>
                    <a:pt x="10800" y="16804"/>
                    <a:pt x="10452" y="17012"/>
                    <a:pt x="10081" y="17012"/>
                  </a:cubicBezTo>
                  <a:lnTo>
                    <a:pt x="9201" y="17012"/>
                  </a:lnTo>
                  <a:lnTo>
                    <a:pt x="9201" y="13073"/>
                  </a:lnTo>
                  <a:lnTo>
                    <a:pt x="10661" y="11613"/>
                  </a:lnTo>
                  <a:cubicBezTo>
                    <a:pt x="10985" y="11288"/>
                    <a:pt x="10985" y="10778"/>
                    <a:pt x="10661" y="10454"/>
                  </a:cubicBezTo>
                  <a:cubicBezTo>
                    <a:pt x="10498" y="10292"/>
                    <a:pt x="10284" y="10211"/>
                    <a:pt x="10073" y="10211"/>
                  </a:cubicBezTo>
                  <a:cubicBezTo>
                    <a:pt x="9861" y="10211"/>
                    <a:pt x="9653" y="10292"/>
                    <a:pt x="9502" y="10454"/>
                  </a:cubicBezTo>
                  <a:lnTo>
                    <a:pt x="8366" y="11566"/>
                  </a:lnTo>
                  <a:lnTo>
                    <a:pt x="7254" y="10454"/>
                  </a:lnTo>
                  <a:cubicBezTo>
                    <a:pt x="7092" y="10292"/>
                    <a:pt x="6877" y="10211"/>
                    <a:pt x="6666" y="10211"/>
                  </a:cubicBezTo>
                  <a:cubicBezTo>
                    <a:pt x="6454" y="10211"/>
                    <a:pt x="6246" y="10292"/>
                    <a:pt x="6095" y="10454"/>
                  </a:cubicBezTo>
                  <a:cubicBezTo>
                    <a:pt x="5771" y="10778"/>
                    <a:pt x="5771" y="11288"/>
                    <a:pt x="6095" y="11613"/>
                  </a:cubicBezTo>
                  <a:lnTo>
                    <a:pt x="7555" y="13073"/>
                  </a:lnTo>
                  <a:lnTo>
                    <a:pt x="7555" y="17012"/>
                  </a:lnTo>
                  <a:lnTo>
                    <a:pt x="6651" y="17012"/>
                  </a:lnTo>
                  <a:cubicBezTo>
                    <a:pt x="6281" y="17012"/>
                    <a:pt x="5933" y="16804"/>
                    <a:pt x="5771" y="16456"/>
                  </a:cubicBezTo>
                  <a:lnTo>
                    <a:pt x="4751" y="14417"/>
                  </a:lnTo>
                  <a:cubicBezTo>
                    <a:pt x="4589" y="14092"/>
                    <a:pt x="4357" y="13814"/>
                    <a:pt x="4056" y="13583"/>
                  </a:cubicBezTo>
                  <a:cubicBezTo>
                    <a:pt x="2526" y="12285"/>
                    <a:pt x="1622" y="10384"/>
                    <a:pt x="1622" y="8368"/>
                  </a:cubicBezTo>
                  <a:cubicBezTo>
                    <a:pt x="1622" y="6537"/>
                    <a:pt x="2364" y="4846"/>
                    <a:pt x="3662" y="3548"/>
                  </a:cubicBezTo>
                  <a:lnTo>
                    <a:pt x="3662" y="3571"/>
                  </a:lnTo>
                  <a:cubicBezTo>
                    <a:pt x="4936" y="2319"/>
                    <a:pt x="6605" y="1647"/>
                    <a:pt x="8366" y="1647"/>
                  </a:cubicBezTo>
                  <a:close/>
                  <a:moveTo>
                    <a:pt x="10962" y="18658"/>
                  </a:moveTo>
                  <a:lnTo>
                    <a:pt x="10962" y="19863"/>
                  </a:lnTo>
                  <a:cubicBezTo>
                    <a:pt x="10962" y="20164"/>
                    <a:pt x="10707" y="20419"/>
                    <a:pt x="10406" y="20419"/>
                  </a:cubicBezTo>
                  <a:lnTo>
                    <a:pt x="6350" y="20419"/>
                  </a:lnTo>
                  <a:cubicBezTo>
                    <a:pt x="6049" y="20419"/>
                    <a:pt x="5794" y="20164"/>
                    <a:pt x="5794" y="19863"/>
                  </a:cubicBezTo>
                  <a:lnTo>
                    <a:pt x="5794" y="18658"/>
                  </a:lnTo>
                  <a:close/>
                  <a:moveTo>
                    <a:pt x="9247" y="22065"/>
                  </a:moveTo>
                  <a:lnTo>
                    <a:pt x="9247" y="22945"/>
                  </a:lnTo>
                  <a:cubicBezTo>
                    <a:pt x="9247" y="23432"/>
                    <a:pt x="8853" y="23826"/>
                    <a:pt x="8366" y="23826"/>
                  </a:cubicBezTo>
                  <a:cubicBezTo>
                    <a:pt x="7880" y="23826"/>
                    <a:pt x="7486" y="23432"/>
                    <a:pt x="7486" y="22945"/>
                  </a:cubicBezTo>
                  <a:lnTo>
                    <a:pt x="7486" y="22065"/>
                  </a:lnTo>
                  <a:close/>
                  <a:moveTo>
                    <a:pt x="8440" y="0"/>
                  </a:moveTo>
                  <a:cubicBezTo>
                    <a:pt x="6214" y="0"/>
                    <a:pt x="4128" y="832"/>
                    <a:pt x="2526" y="2389"/>
                  </a:cubicBezTo>
                  <a:cubicBezTo>
                    <a:pt x="904" y="3988"/>
                    <a:pt x="0" y="6097"/>
                    <a:pt x="0" y="8368"/>
                  </a:cubicBezTo>
                  <a:cubicBezTo>
                    <a:pt x="0" y="10894"/>
                    <a:pt x="1089" y="13235"/>
                    <a:pt x="3036" y="14834"/>
                  </a:cubicBezTo>
                  <a:cubicBezTo>
                    <a:pt x="3129" y="14927"/>
                    <a:pt x="3221" y="15043"/>
                    <a:pt x="3291" y="15158"/>
                  </a:cubicBezTo>
                  <a:lnTo>
                    <a:pt x="4218" y="17012"/>
                  </a:lnTo>
                  <a:lnTo>
                    <a:pt x="3268" y="17012"/>
                  </a:lnTo>
                  <a:cubicBezTo>
                    <a:pt x="2804" y="17012"/>
                    <a:pt x="2457" y="17383"/>
                    <a:pt x="2457" y="17847"/>
                  </a:cubicBezTo>
                  <a:cubicBezTo>
                    <a:pt x="2457" y="18287"/>
                    <a:pt x="2804" y="18658"/>
                    <a:pt x="3268" y="18658"/>
                  </a:cubicBezTo>
                  <a:lnTo>
                    <a:pt x="4148" y="18658"/>
                  </a:lnTo>
                  <a:lnTo>
                    <a:pt x="4148" y="19863"/>
                  </a:lnTo>
                  <a:cubicBezTo>
                    <a:pt x="4148" y="20906"/>
                    <a:pt x="4867" y="21787"/>
                    <a:pt x="5840" y="21995"/>
                  </a:cubicBezTo>
                  <a:lnTo>
                    <a:pt x="5840" y="22945"/>
                  </a:lnTo>
                  <a:cubicBezTo>
                    <a:pt x="5840" y="24336"/>
                    <a:pt x="6976" y="25471"/>
                    <a:pt x="8366" y="25471"/>
                  </a:cubicBezTo>
                  <a:cubicBezTo>
                    <a:pt x="9757" y="25471"/>
                    <a:pt x="10892" y="24336"/>
                    <a:pt x="10892" y="22945"/>
                  </a:cubicBezTo>
                  <a:lnTo>
                    <a:pt x="10892" y="21995"/>
                  </a:lnTo>
                  <a:cubicBezTo>
                    <a:pt x="11866" y="21787"/>
                    <a:pt x="12607" y="20906"/>
                    <a:pt x="12607" y="19863"/>
                  </a:cubicBezTo>
                  <a:lnTo>
                    <a:pt x="12607" y="18658"/>
                  </a:lnTo>
                  <a:lnTo>
                    <a:pt x="13488" y="18658"/>
                  </a:lnTo>
                  <a:cubicBezTo>
                    <a:pt x="13928" y="18658"/>
                    <a:pt x="14299" y="18287"/>
                    <a:pt x="14299" y="17847"/>
                  </a:cubicBezTo>
                  <a:cubicBezTo>
                    <a:pt x="14299" y="17383"/>
                    <a:pt x="13928" y="17012"/>
                    <a:pt x="13488" y="17012"/>
                  </a:cubicBezTo>
                  <a:lnTo>
                    <a:pt x="12538" y="17012"/>
                  </a:lnTo>
                  <a:lnTo>
                    <a:pt x="13465" y="15158"/>
                  </a:lnTo>
                  <a:cubicBezTo>
                    <a:pt x="13534" y="15043"/>
                    <a:pt x="13604" y="14927"/>
                    <a:pt x="13720" y="14834"/>
                  </a:cubicBezTo>
                  <a:cubicBezTo>
                    <a:pt x="15667" y="13235"/>
                    <a:pt x="16756" y="10871"/>
                    <a:pt x="16756" y="8368"/>
                  </a:cubicBezTo>
                  <a:cubicBezTo>
                    <a:pt x="16756" y="6213"/>
                    <a:pt x="15945" y="4173"/>
                    <a:pt x="14415" y="2598"/>
                  </a:cubicBezTo>
                  <a:cubicBezTo>
                    <a:pt x="12885" y="998"/>
                    <a:pt x="10823" y="71"/>
                    <a:pt x="8621" y="2"/>
                  </a:cubicBezTo>
                  <a:cubicBezTo>
                    <a:pt x="8561" y="1"/>
                    <a:pt x="8500" y="0"/>
                    <a:pt x="84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44"/>
            <p:cNvSpPr/>
            <p:nvPr/>
          </p:nvSpPr>
          <p:spPr>
            <a:xfrm>
              <a:off x="-5800400" y="2780663"/>
              <a:ext cx="41150" cy="83450"/>
            </a:xfrm>
            <a:custGeom>
              <a:rect b="b" l="l" r="r" t="t"/>
              <a:pathLst>
                <a:path extrusionOk="0" h="3338" w="1646">
                  <a:moveTo>
                    <a:pt x="811" y="0"/>
                  </a:moveTo>
                  <a:cubicBezTo>
                    <a:pt x="371" y="0"/>
                    <a:pt x="0" y="371"/>
                    <a:pt x="0" y="812"/>
                  </a:cubicBezTo>
                  <a:lnTo>
                    <a:pt x="0" y="2526"/>
                  </a:lnTo>
                  <a:cubicBezTo>
                    <a:pt x="0" y="2967"/>
                    <a:pt x="371" y="3338"/>
                    <a:pt x="811" y="3338"/>
                  </a:cubicBezTo>
                  <a:cubicBezTo>
                    <a:pt x="1275" y="3338"/>
                    <a:pt x="1646" y="2967"/>
                    <a:pt x="1646" y="2526"/>
                  </a:cubicBezTo>
                  <a:lnTo>
                    <a:pt x="1646" y="812"/>
                  </a:lnTo>
                  <a:cubicBezTo>
                    <a:pt x="1646" y="371"/>
                    <a:pt x="1275" y="0"/>
                    <a:pt x="8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44"/>
            <p:cNvSpPr/>
            <p:nvPr/>
          </p:nvSpPr>
          <p:spPr>
            <a:xfrm>
              <a:off x="-5917450" y="2792913"/>
              <a:ext cx="67825" cy="78150"/>
            </a:xfrm>
            <a:custGeom>
              <a:rect b="b" l="l" r="r" t="t"/>
              <a:pathLst>
                <a:path extrusionOk="0" h="3126" w="2713">
                  <a:moveTo>
                    <a:pt x="931" y="0"/>
                  </a:moveTo>
                  <a:cubicBezTo>
                    <a:pt x="793" y="0"/>
                    <a:pt x="656" y="37"/>
                    <a:pt x="534" y="113"/>
                  </a:cubicBezTo>
                  <a:cubicBezTo>
                    <a:pt x="117" y="345"/>
                    <a:pt x="1" y="831"/>
                    <a:pt x="233" y="1225"/>
                  </a:cubicBezTo>
                  <a:lnTo>
                    <a:pt x="1067" y="2709"/>
                  </a:lnTo>
                  <a:cubicBezTo>
                    <a:pt x="1229" y="2963"/>
                    <a:pt x="1507" y="3126"/>
                    <a:pt x="1785" y="3126"/>
                  </a:cubicBezTo>
                  <a:cubicBezTo>
                    <a:pt x="1924" y="3126"/>
                    <a:pt x="2063" y="3079"/>
                    <a:pt x="2202" y="3010"/>
                  </a:cubicBezTo>
                  <a:cubicBezTo>
                    <a:pt x="2596" y="2778"/>
                    <a:pt x="2712" y="2268"/>
                    <a:pt x="2504" y="1897"/>
                  </a:cubicBezTo>
                  <a:lnTo>
                    <a:pt x="1646" y="414"/>
                  </a:lnTo>
                  <a:cubicBezTo>
                    <a:pt x="1491" y="150"/>
                    <a:pt x="1210" y="0"/>
                    <a:pt x="9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44"/>
            <p:cNvSpPr/>
            <p:nvPr/>
          </p:nvSpPr>
          <p:spPr>
            <a:xfrm>
              <a:off x="-5710600" y="2792913"/>
              <a:ext cx="68400" cy="78150"/>
            </a:xfrm>
            <a:custGeom>
              <a:rect b="b" l="l" r="r" t="t"/>
              <a:pathLst>
                <a:path extrusionOk="0" h="3126" w="2736">
                  <a:moveTo>
                    <a:pt x="1795" y="0"/>
                  </a:moveTo>
                  <a:cubicBezTo>
                    <a:pt x="1515" y="0"/>
                    <a:pt x="1245" y="150"/>
                    <a:pt x="1090" y="414"/>
                  </a:cubicBezTo>
                  <a:lnTo>
                    <a:pt x="232" y="1897"/>
                  </a:lnTo>
                  <a:cubicBezTo>
                    <a:pt x="0" y="2291"/>
                    <a:pt x="139" y="2778"/>
                    <a:pt x="533" y="3010"/>
                  </a:cubicBezTo>
                  <a:cubicBezTo>
                    <a:pt x="672" y="3079"/>
                    <a:pt x="811" y="3126"/>
                    <a:pt x="951" y="3126"/>
                  </a:cubicBezTo>
                  <a:cubicBezTo>
                    <a:pt x="1229" y="3126"/>
                    <a:pt x="1507" y="2963"/>
                    <a:pt x="1669" y="2709"/>
                  </a:cubicBezTo>
                  <a:lnTo>
                    <a:pt x="2503" y="1225"/>
                  </a:lnTo>
                  <a:cubicBezTo>
                    <a:pt x="2735" y="831"/>
                    <a:pt x="2596" y="345"/>
                    <a:pt x="2202" y="113"/>
                  </a:cubicBezTo>
                  <a:cubicBezTo>
                    <a:pt x="2072" y="37"/>
                    <a:pt x="1932" y="0"/>
                    <a:pt x="17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44"/>
            <p:cNvSpPr/>
            <p:nvPr/>
          </p:nvSpPr>
          <p:spPr>
            <a:xfrm>
              <a:off x="-6481175" y="2908113"/>
              <a:ext cx="424125" cy="466425"/>
            </a:xfrm>
            <a:custGeom>
              <a:rect b="b" l="l" r="r" t="t"/>
              <a:pathLst>
                <a:path extrusionOk="0" h="18657" w="16965">
                  <a:moveTo>
                    <a:pt x="2480" y="1"/>
                  </a:moveTo>
                  <a:cubicBezTo>
                    <a:pt x="1113" y="1"/>
                    <a:pt x="0" y="1113"/>
                    <a:pt x="0" y="2457"/>
                  </a:cubicBezTo>
                  <a:lnTo>
                    <a:pt x="0" y="13790"/>
                  </a:lnTo>
                  <a:cubicBezTo>
                    <a:pt x="0" y="15134"/>
                    <a:pt x="1113" y="16247"/>
                    <a:pt x="2480" y="16247"/>
                  </a:cubicBezTo>
                  <a:lnTo>
                    <a:pt x="9085" y="16247"/>
                  </a:lnTo>
                  <a:lnTo>
                    <a:pt x="12260" y="18518"/>
                  </a:lnTo>
                  <a:cubicBezTo>
                    <a:pt x="12399" y="18611"/>
                    <a:pt x="12584" y="18657"/>
                    <a:pt x="12747" y="18657"/>
                  </a:cubicBezTo>
                  <a:cubicBezTo>
                    <a:pt x="12863" y="18657"/>
                    <a:pt x="13002" y="18634"/>
                    <a:pt x="13117" y="18564"/>
                  </a:cubicBezTo>
                  <a:cubicBezTo>
                    <a:pt x="13396" y="18425"/>
                    <a:pt x="13558" y="18147"/>
                    <a:pt x="13558" y="17846"/>
                  </a:cubicBezTo>
                  <a:lnTo>
                    <a:pt x="13558" y="16247"/>
                  </a:lnTo>
                  <a:lnTo>
                    <a:pt x="14508" y="16247"/>
                  </a:lnTo>
                  <a:cubicBezTo>
                    <a:pt x="15852" y="16247"/>
                    <a:pt x="16965" y="15134"/>
                    <a:pt x="16965" y="13790"/>
                  </a:cubicBezTo>
                  <a:lnTo>
                    <a:pt x="16965" y="9874"/>
                  </a:lnTo>
                  <a:cubicBezTo>
                    <a:pt x="16965" y="9433"/>
                    <a:pt x="16594" y="9062"/>
                    <a:pt x="16130" y="9062"/>
                  </a:cubicBezTo>
                  <a:cubicBezTo>
                    <a:pt x="15690" y="9062"/>
                    <a:pt x="15319" y="9433"/>
                    <a:pt x="15319" y="9874"/>
                  </a:cubicBezTo>
                  <a:lnTo>
                    <a:pt x="15319" y="13790"/>
                  </a:lnTo>
                  <a:cubicBezTo>
                    <a:pt x="15319" y="14230"/>
                    <a:pt x="14948" y="14601"/>
                    <a:pt x="14485" y="14601"/>
                  </a:cubicBezTo>
                  <a:lnTo>
                    <a:pt x="12747" y="14601"/>
                  </a:lnTo>
                  <a:cubicBezTo>
                    <a:pt x="12283" y="14601"/>
                    <a:pt x="11912" y="14972"/>
                    <a:pt x="11912" y="15436"/>
                  </a:cubicBezTo>
                  <a:lnTo>
                    <a:pt x="11912" y="16247"/>
                  </a:lnTo>
                  <a:lnTo>
                    <a:pt x="9803" y="14763"/>
                  </a:lnTo>
                  <a:cubicBezTo>
                    <a:pt x="9664" y="14671"/>
                    <a:pt x="9502" y="14601"/>
                    <a:pt x="9340" y="14601"/>
                  </a:cubicBezTo>
                  <a:lnTo>
                    <a:pt x="2480" y="14601"/>
                  </a:lnTo>
                  <a:cubicBezTo>
                    <a:pt x="2017" y="14601"/>
                    <a:pt x="1646" y="14230"/>
                    <a:pt x="1646" y="13790"/>
                  </a:cubicBezTo>
                  <a:lnTo>
                    <a:pt x="1646" y="2457"/>
                  </a:lnTo>
                  <a:cubicBezTo>
                    <a:pt x="1646" y="2017"/>
                    <a:pt x="2017" y="1646"/>
                    <a:pt x="2480" y="1646"/>
                  </a:cubicBezTo>
                  <a:lnTo>
                    <a:pt x="14485" y="1646"/>
                  </a:lnTo>
                  <a:cubicBezTo>
                    <a:pt x="14948" y="1646"/>
                    <a:pt x="15319" y="2017"/>
                    <a:pt x="15319" y="2457"/>
                  </a:cubicBezTo>
                  <a:lnTo>
                    <a:pt x="15319" y="6050"/>
                  </a:lnTo>
                  <a:cubicBezTo>
                    <a:pt x="15319" y="6513"/>
                    <a:pt x="15690" y="6861"/>
                    <a:pt x="16130" y="6861"/>
                  </a:cubicBezTo>
                  <a:cubicBezTo>
                    <a:pt x="16594" y="6861"/>
                    <a:pt x="16965" y="6513"/>
                    <a:pt x="16965" y="6050"/>
                  </a:cubicBezTo>
                  <a:lnTo>
                    <a:pt x="16965" y="2457"/>
                  </a:lnTo>
                  <a:cubicBezTo>
                    <a:pt x="16965" y="1113"/>
                    <a:pt x="15852" y="1"/>
                    <a:pt x="145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44"/>
            <p:cNvSpPr/>
            <p:nvPr/>
          </p:nvSpPr>
          <p:spPr>
            <a:xfrm>
              <a:off x="-5502600" y="2908113"/>
              <a:ext cx="423550" cy="466425"/>
            </a:xfrm>
            <a:custGeom>
              <a:rect b="b" l="l" r="r" t="t"/>
              <a:pathLst>
                <a:path extrusionOk="0" h="18657" w="16942">
                  <a:moveTo>
                    <a:pt x="2457" y="1"/>
                  </a:moveTo>
                  <a:cubicBezTo>
                    <a:pt x="1089" y="1"/>
                    <a:pt x="0" y="1113"/>
                    <a:pt x="0" y="2481"/>
                  </a:cubicBezTo>
                  <a:lnTo>
                    <a:pt x="0" y="13790"/>
                  </a:lnTo>
                  <a:cubicBezTo>
                    <a:pt x="0" y="15157"/>
                    <a:pt x="1089" y="16247"/>
                    <a:pt x="2457" y="16247"/>
                  </a:cubicBezTo>
                  <a:lnTo>
                    <a:pt x="3407" y="16247"/>
                  </a:lnTo>
                  <a:lnTo>
                    <a:pt x="3407" y="17846"/>
                  </a:lnTo>
                  <a:cubicBezTo>
                    <a:pt x="3407" y="18147"/>
                    <a:pt x="3569" y="18425"/>
                    <a:pt x="3847" y="18564"/>
                  </a:cubicBezTo>
                  <a:cubicBezTo>
                    <a:pt x="3963" y="18634"/>
                    <a:pt x="4079" y="18657"/>
                    <a:pt x="4218" y="18657"/>
                  </a:cubicBezTo>
                  <a:cubicBezTo>
                    <a:pt x="4380" y="18657"/>
                    <a:pt x="4543" y="18611"/>
                    <a:pt x="4682" y="18518"/>
                  </a:cubicBezTo>
                  <a:lnTo>
                    <a:pt x="7880" y="16270"/>
                  </a:lnTo>
                  <a:lnTo>
                    <a:pt x="9062" y="16270"/>
                  </a:lnTo>
                  <a:cubicBezTo>
                    <a:pt x="9525" y="16270"/>
                    <a:pt x="9873" y="15899"/>
                    <a:pt x="9873" y="15436"/>
                  </a:cubicBezTo>
                  <a:cubicBezTo>
                    <a:pt x="9873" y="14972"/>
                    <a:pt x="9525" y="14624"/>
                    <a:pt x="9062" y="14624"/>
                  </a:cubicBezTo>
                  <a:lnTo>
                    <a:pt x="7625" y="14624"/>
                  </a:lnTo>
                  <a:cubicBezTo>
                    <a:pt x="7439" y="14624"/>
                    <a:pt x="7277" y="14671"/>
                    <a:pt x="7138" y="14763"/>
                  </a:cubicBezTo>
                  <a:lnTo>
                    <a:pt x="5029" y="16247"/>
                  </a:lnTo>
                  <a:lnTo>
                    <a:pt x="5029" y="15436"/>
                  </a:lnTo>
                  <a:cubicBezTo>
                    <a:pt x="5029" y="14972"/>
                    <a:pt x="4658" y="14601"/>
                    <a:pt x="4218" y="14601"/>
                  </a:cubicBezTo>
                  <a:lnTo>
                    <a:pt x="2457" y="14601"/>
                  </a:lnTo>
                  <a:cubicBezTo>
                    <a:pt x="1993" y="14601"/>
                    <a:pt x="1622" y="14254"/>
                    <a:pt x="1622" y="13790"/>
                  </a:cubicBezTo>
                  <a:lnTo>
                    <a:pt x="1622" y="2457"/>
                  </a:lnTo>
                  <a:cubicBezTo>
                    <a:pt x="1622" y="2017"/>
                    <a:pt x="1993" y="1646"/>
                    <a:pt x="2457" y="1646"/>
                  </a:cubicBezTo>
                  <a:lnTo>
                    <a:pt x="14485" y="1646"/>
                  </a:lnTo>
                  <a:cubicBezTo>
                    <a:pt x="14925" y="1646"/>
                    <a:pt x="15296" y="2017"/>
                    <a:pt x="15296" y="2457"/>
                  </a:cubicBezTo>
                  <a:lnTo>
                    <a:pt x="15296" y="13790"/>
                  </a:lnTo>
                  <a:cubicBezTo>
                    <a:pt x="15296" y="14230"/>
                    <a:pt x="14925" y="14601"/>
                    <a:pt x="14485" y="14601"/>
                  </a:cubicBezTo>
                  <a:lnTo>
                    <a:pt x="12886" y="14601"/>
                  </a:lnTo>
                  <a:cubicBezTo>
                    <a:pt x="12445" y="14601"/>
                    <a:pt x="12075" y="14972"/>
                    <a:pt x="12075" y="15436"/>
                  </a:cubicBezTo>
                  <a:cubicBezTo>
                    <a:pt x="12075" y="15899"/>
                    <a:pt x="12445" y="16247"/>
                    <a:pt x="12886" y="16247"/>
                  </a:cubicBezTo>
                  <a:lnTo>
                    <a:pt x="14485" y="16247"/>
                  </a:lnTo>
                  <a:cubicBezTo>
                    <a:pt x="15829" y="16247"/>
                    <a:pt x="16941" y="15157"/>
                    <a:pt x="16941" y="13790"/>
                  </a:cubicBezTo>
                  <a:lnTo>
                    <a:pt x="16941" y="2481"/>
                  </a:lnTo>
                  <a:cubicBezTo>
                    <a:pt x="16941" y="1113"/>
                    <a:pt x="15829" y="1"/>
                    <a:pt x="144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44"/>
            <p:cNvSpPr/>
            <p:nvPr/>
          </p:nvSpPr>
          <p:spPr>
            <a:xfrm>
              <a:off x="-6404700" y="3001838"/>
              <a:ext cx="267700" cy="219175"/>
            </a:xfrm>
            <a:custGeom>
              <a:rect b="b" l="l" r="r" t="t"/>
              <a:pathLst>
                <a:path extrusionOk="0" h="8767" w="10708">
                  <a:moveTo>
                    <a:pt x="7811" y="1652"/>
                  </a:moveTo>
                  <a:lnTo>
                    <a:pt x="9062" y="2880"/>
                  </a:lnTo>
                  <a:lnTo>
                    <a:pt x="4821" y="7121"/>
                  </a:lnTo>
                  <a:lnTo>
                    <a:pt x="1808" y="4085"/>
                  </a:lnTo>
                  <a:lnTo>
                    <a:pt x="3036" y="2857"/>
                  </a:lnTo>
                  <a:lnTo>
                    <a:pt x="4242" y="4062"/>
                  </a:lnTo>
                  <a:cubicBezTo>
                    <a:pt x="4404" y="4201"/>
                    <a:pt x="4612" y="4294"/>
                    <a:pt x="4821" y="4294"/>
                  </a:cubicBezTo>
                  <a:cubicBezTo>
                    <a:pt x="5053" y="4294"/>
                    <a:pt x="5261" y="4201"/>
                    <a:pt x="5400" y="4062"/>
                  </a:cubicBezTo>
                  <a:lnTo>
                    <a:pt x="7811" y="1652"/>
                  </a:lnTo>
                  <a:close/>
                  <a:moveTo>
                    <a:pt x="7819" y="1"/>
                  </a:moveTo>
                  <a:cubicBezTo>
                    <a:pt x="7399" y="1"/>
                    <a:pt x="6976" y="157"/>
                    <a:pt x="6652" y="470"/>
                  </a:cubicBezTo>
                  <a:lnTo>
                    <a:pt x="6652" y="493"/>
                  </a:lnTo>
                  <a:lnTo>
                    <a:pt x="4821" y="2301"/>
                  </a:lnTo>
                  <a:lnTo>
                    <a:pt x="4195" y="1675"/>
                  </a:lnTo>
                  <a:cubicBezTo>
                    <a:pt x="3882" y="1362"/>
                    <a:pt x="3465" y="1206"/>
                    <a:pt x="3045" y="1206"/>
                  </a:cubicBezTo>
                  <a:cubicBezTo>
                    <a:pt x="2625" y="1206"/>
                    <a:pt x="2202" y="1362"/>
                    <a:pt x="1878" y="1675"/>
                  </a:cubicBezTo>
                  <a:lnTo>
                    <a:pt x="626" y="2926"/>
                  </a:lnTo>
                  <a:cubicBezTo>
                    <a:pt x="0" y="3575"/>
                    <a:pt x="0" y="4618"/>
                    <a:pt x="626" y="5244"/>
                  </a:cubicBezTo>
                  <a:lnTo>
                    <a:pt x="3662" y="8280"/>
                  </a:lnTo>
                  <a:cubicBezTo>
                    <a:pt x="3987" y="8604"/>
                    <a:pt x="4404" y="8767"/>
                    <a:pt x="4821" y="8767"/>
                  </a:cubicBezTo>
                  <a:cubicBezTo>
                    <a:pt x="5238" y="8767"/>
                    <a:pt x="5655" y="8604"/>
                    <a:pt x="5980" y="8280"/>
                  </a:cubicBezTo>
                  <a:lnTo>
                    <a:pt x="10221" y="4039"/>
                  </a:lnTo>
                  <a:cubicBezTo>
                    <a:pt x="10522" y="3737"/>
                    <a:pt x="10707" y="3320"/>
                    <a:pt x="10707" y="2880"/>
                  </a:cubicBezTo>
                  <a:cubicBezTo>
                    <a:pt x="10707" y="2440"/>
                    <a:pt x="10522" y="2046"/>
                    <a:pt x="10221" y="1721"/>
                  </a:cubicBezTo>
                  <a:lnTo>
                    <a:pt x="8969" y="470"/>
                  </a:lnTo>
                  <a:cubicBezTo>
                    <a:pt x="8656" y="157"/>
                    <a:pt x="8239" y="1"/>
                    <a:pt x="7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44"/>
            <p:cNvSpPr/>
            <p:nvPr/>
          </p:nvSpPr>
          <p:spPr>
            <a:xfrm>
              <a:off x="-5412225" y="2994313"/>
              <a:ext cx="238725" cy="234375"/>
            </a:xfrm>
            <a:custGeom>
              <a:rect b="b" l="l" r="r" t="t"/>
              <a:pathLst>
                <a:path extrusionOk="0" h="9375" w="9549">
                  <a:moveTo>
                    <a:pt x="6652" y="1628"/>
                  </a:moveTo>
                  <a:lnTo>
                    <a:pt x="7903" y="2880"/>
                  </a:lnTo>
                  <a:lnTo>
                    <a:pt x="6675" y="4108"/>
                  </a:lnTo>
                  <a:cubicBezTo>
                    <a:pt x="6351" y="4432"/>
                    <a:pt x="6351" y="4942"/>
                    <a:pt x="6675" y="5267"/>
                  </a:cubicBezTo>
                  <a:lnTo>
                    <a:pt x="7903" y="6495"/>
                  </a:lnTo>
                  <a:lnTo>
                    <a:pt x="6652" y="7723"/>
                  </a:lnTo>
                  <a:lnTo>
                    <a:pt x="5424" y="6495"/>
                  </a:lnTo>
                  <a:cubicBezTo>
                    <a:pt x="5273" y="6344"/>
                    <a:pt x="5064" y="6269"/>
                    <a:pt x="4853" y="6269"/>
                  </a:cubicBezTo>
                  <a:cubicBezTo>
                    <a:pt x="4641" y="6269"/>
                    <a:pt x="4427" y="6344"/>
                    <a:pt x="4265" y="6495"/>
                  </a:cubicBezTo>
                  <a:lnTo>
                    <a:pt x="3060" y="7723"/>
                  </a:lnTo>
                  <a:lnTo>
                    <a:pt x="1808" y="6495"/>
                  </a:lnTo>
                  <a:lnTo>
                    <a:pt x="3037" y="5267"/>
                  </a:lnTo>
                  <a:cubicBezTo>
                    <a:pt x="3361" y="4942"/>
                    <a:pt x="3361" y="4432"/>
                    <a:pt x="3037" y="4108"/>
                  </a:cubicBezTo>
                  <a:lnTo>
                    <a:pt x="1808" y="2880"/>
                  </a:lnTo>
                  <a:lnTo>
                    <a:pt x="3060" y="1628"/>
                  </a:lnTo>
                  <a:lnTo>
                    <a:pt x="4265" y="2857"/>
                  </a:lnTo>
                  <a:cubicBezTo>
                    <a:pt x="4427" y="3019"/>
                    <a:pt x="4641" y="3100"/>
                    <a:pt x="4853" y="3100"/>
                  </a:cubicBezTo>
                  <a:cubicBezTo>
                    <a:pt x="5064" y="3100"/>
                    <a:pt x="5273" y="3019"/>
                    <a:pt x="5424" y="2857"/>
                  </a:cubicBezTo>
                  <a:lnTo>
                    <a:pt x="6652" y="1628"/>
                  </a:lnTo>
                  <a:close/>
                  <a:moveTo>
                    <a:pt x="3048" y="0"/>
                  </a:moveTo>
                  <a:cubicBezTo>
                    <a:pt x="2625" y="0"/>
                    <a:pt x="2202" y="157"/>
                    <a:pt x="1878" y="470"/>
                  </a:cubicBezTo>
                  <a:lnTo>
                    <a:pt x="649" y="1721"/>
                  </a:lnTo>
                  <a:cubicBezTo>
                    <a:pt x="1" y="2347"/>
                    <a:pt x="1" y="3390"/>
                    <a:pt x="649" y="4038"/>
                  </a:cubicBezTo>
                  <a:lnTo>
                    <a:pt x="1275" y="4687"/>
                  </a:lnTo>
                  <a:lnTo>
                    <a:pt x="649" y="5336"/>
                  </a:lnTo>
                  <a:cubicBezTo>
                    <a:pt x="1" y="5962"/>
                    <a:pt x="1" y="7005"/>
                    <a:pt x="649" y="7654"/>
                  </a:cubicBezTo>
                  <a:lnTo>
                    <a:pt x="1878" y="8905"/>
                  </a:lnTo>
                  <a:cubicBezTo>
                    <a:pt x="2202" y="9207"/>
                    <a:pt x="2619" y="9369"/>
                    <a:pt x="3060" y="9369"/>
                  </a:cubicBezTo>
                  <a:cubicBezTo>
                    <a:pt x="3477" y="9369"/>
                    <a:pt x="3894" y="9207"/>
                    <a:pt x="4218" y="8905"/>
                  </a:cubicBezTo>
                  <a:lnTo>
                    <a:pt x="4844" y="8256"/>
                  </a:lnTo>
                  <a:lnTo>
                    <a:pt x="5493" y="8905"/>
                  </a:lnTo>
                  <a:cubicBezTo>
                    <a:pt x="5818" y="9218"/>
                    <a:pt x="6240" y="9375"/>
                    <a:pt x="6661" y="9375"/>
                  </a:cubicBezTo>
                  <a:cubicBezTo>
                    <a:pt x="7081" y="9375"/>
                    <a:pt x="7498" y="9218"/>
                    <a:pt x="7811" y="8905"/>
                  </a:cubicBezTo>
                  <a:lnTo>
                    <a:pt x="9062" y="7654"/>
                  </a:lnTo>
                  <a:cubicBezTo>
                    <a:pt x="9363" y="7353"/>
                    <a:pt x="9549" y="6935"/>
                    <a:pt x="9549" y="6495"/>
                  </a:cubicBezTo>
                  <a:cubicBezTo>
                    <a:pt x="9549" y="6055"/>
                    <a:pt x="9363" y="5638"/>
                    <a:pt x="9062" y="5336"/>
                  </a:cubicBezTo>
                  <a:lnTo>
                    <a:pt x="8413" y="4687"/>
                  </a:lnTo>
                  <a:lnTo>
                    <a:pt x="9062" y="4038"/>
                  </a:lnTo>
                  <a:cubicBezTo>
                    <a:pt x="9363" y="3737"/>
                    <a:pt x="9549" y="3320"/>
                    <a:pt x="9549" y="2880"/>
                  </a:cubicBezTo>
                  <a:cubicBezTo>
                    <a:pt x="9549" y="2439"/>
                    <a:pt x="9363" y="2022"/>
                    <a:pt x="9062" y="1721"/>
                  </a:cubicBezTo>
                  <a:lnTo>
                    <a:pt x="7811" y="470"/>
                  </a:lnTo>
                  <a:cubicBezTo>
                    <a:pt x="7498" y="157"/>
                    <a:pt x="7081" y="0"/>
                    <a:pt x="6661" y="0"/>
                  </a:cubicBezTo>
                  <a:cubicBezTo>
                    <a:pt x="6240" y="0"/>
                    <a:pt x="5818" y="157"/>
                    <a:pt x="5493" y="470"/>
                  </a:cubicBezTo>
                  <a:lnTo>
                    <a:pt x="4844" y="1118"/>
                  </a:lnTo>
                  <a:lnTo>
                    <a:pt x="4218" y="470"/>
                  </a:lnTo>
                  <a:cubicBezTo>
                    <a:pt x="3894" y="157"/>
                    <a:pt x="3471" y="0"/>
                    <a:pt x="30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44"/>
            <p:cNvSpPr/>
            <p:nvPr/>
          </p:nvSpPr>
          <p:spPr>
            <a:xfrm>
              <a:off x="-6316050" y="3683913"/>
              <a:ext cx="434550" cy="73600"/>
            </a:xfrm>
            <a:custGeom>
              <a:rect b="b" l="l" r="r" t="t"/>
              <a:pathLst>
                <a:path extrusionOk="0" h="2944" w="17382">
                  <a:moveTo>
                    <a:pt x="8691" y="0"/>
                  </a:moveTo>
                  <a:cubicBezTo>
                    <a:pt x="5956" y="0"/>
                    <a:pt x="3245" y="441"/>
                    <a:pt x="649" y="1345"/>
                  </a:cubicBezTo>
                  <a:cubicBezTo>
                    <a:pt x="232" y="1484"/>
                    <a:pt x="0" y="1947"/>
                    <a:pt x="139" y="2387"/>
                  </a:cubicBezTo>
                  <a:cubicBezTo>
                    <a:pt x="251" y="2722"/>
                    <a:pt x="587" y="2938"/>
                    <a:pt x="930" y="2938"/>
                  </a:cubicBezTo>
                  <a:cubicBezTo>
                    <a:pt x="1015" y="2938"/>
                    <a:pt x="1100" y="2925"/>
                    <a:pt x="1182" y="2897"/>
                  </a:cubicBezTo>
                  <a:cubicBezTo>
                    <a:pt x="3616" y="2063"/>
                    <a:pt x="6142" y="1646"/>
                    <a:pt x="8691" y="1646"/>
                  </a:cubicBezTo>
                  <a:cubicBezTo>
                    <a:pt x="11240" y="1646"/>
                    <a:pt x="13766" y="2063"/>
                    <a:pt x="16200" y="2897"/>
                  </a:cubicBezTo>
                  <a:cubicBezTo>
                    <a:pt x="16269" y="2921"/>
                    <a:pt x="16362" y="2944"/>
                    <a:pt x="16455" y="2944"/>
                  </a:cubicBezTo>
                  <a:cubicBezTo>
                    <a:pt x="16802" y="2944"/>
                    <a:pt x="17127" y="2735"/>
                    <a:pt x="17243" y="2387"/>
                  </a:cubicBezTo>
                  <a:cubicBezTo>
                    <a:pt x="17382" y="1947"/>
                    <a:pt x="17150" y="1484"/>
                    <a:pt x="16733" y="1345"/>
                  </a:cubicBezTo>
                  <a:cubicBezTo>
                    <a:pt x="14114" y="441"/>
                    <a:pt x="11426" y="0"/>
                    <a:pt x="8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44"/>
            <p:cNvSpPr/>
            <p:nvPr/>
          </p:nvSpPr>
          <p:spPr>
            <a:xfrm>
              <a:off x="-5678150" y="3683913"/>
              <a:ext cx="434550" cy="73600"/>
            </a:xfrm>
            <a:custGeom>
              <a:rect b="b" l="l" r="r" t="t"/>
              <a:pathLst>
                <a:path extrusionOk="0" h="2944" w="17382">
                  <a:moveTo>
                    <a:pt x="8691" y="0"/>
                  </a:moveTo>
                  <a:cubicBezTo>
                    <a:pt x="5956" y="0"/>
                    <a:pt x="3245" y="441"/>
                    <a:pt x="649" y="1345"/>
                  </a:cubicBezTo>
                  <a:cubicBezTo>
                    <a:pt x="232" y="1484"/>
                    <a:pt x="0" y="1947"/>
                    <a:pt x="139" y="2387"/>
                  </a:cubicBezTo>
                  <a:cubicBezTo>
                    <a:pt x="255" y="2735"/>
                    <a:pt x="580" y="2944"/>
                    <a:pt x="927" y="2944"/>
                  </a:cubicBezTo>
                  <a:cubicBezTo>
                    <a:pt x="997" y="2944"/>
                    <a:pt x="1089" y="2921"/>
                    <a:pt x="1182" y="2897"/>
                  </a:cubicBezTo>
                  <a:cubicBezTo>
                    <a:pt x="3615" y="2063"/>
                    <a:pt x="6142" y="1646"/>
                    <a:pt x="8691" y="1646"/>
                  </a:cubicBezTo>
                  <a:cubicBezTo>
                    <a:pt x="11240" y="1646"/>
                    <a:pt x="13766" y="2063"/>
                    <a:pt x="16200" y="2897"/>
                  </a:cubicBezTo>
                  <a:cubicBezTo>
                    <a:pt x="16282" y="2925"/>
                    <a:pt x="16366" y="2938"/>
                    <a:pt x="16449" y="2938"/>
                  </a:cubicBezTo>
                  <a:cubicBezTo>
                    <a:pt x="16788" y="2938"/>
                    <a:pt x="17112" y="2722"/>
                    <a:pt x="17242" y="2387"/>
                  </a:cubicBezTo>
                  <a:cubicBezTo>
                    <a:pt x="17382" y="1947"/>
                    <a:pt x="17150" y="1484"/>
                    <a:pt x="16733" y="1345"/>
                  </a:cubicBezTo>
                  <a:cubicBezTo>
                    <a:pt x="14114" y="441"/>
                    <a:pt x="11426" y="0"/>
                    <a:pt x="8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4" name="Google Shape;394;p44"/>
          <p:cNvSpPr/>
          <p:nvPr/>
        </p:nvSpPr>
        <p:spPr>
          <a:xfrm>
            <a:off x="1167724" y="1778101"/>
            <a:ext cx="379956" cy="523192"/>
          </a:xfrm>
          <a:custGeom>
            <a:rect b="b" l="l" r="r" t="t"/>
            <a:pathLst>
              <a:path extrusionOk="0" h="10295" w="6115">
                <a:moveTo>
                  <a:pt x="2008" y="1948"/>
                </a:moveTo>
                <a:cubicBezTo>
                  <a:pt x="2434" y="1948"/>
                  <a:pt x="2839" y="2065"/>
                  <a:pt x="3222" y="2310"/>
                </a:cubicBezTo>
                <a:cubicBezTo>
                  <a:pt x="3290" y="2353"/>
                  <a:pt x="3360" y="2375"/>
                  <a:pt x="3431" y="2375"/>
                </a:cubicBezTo>
                <a:cubicBezTo>
                  <a:pt x="3487" y="2375"/>
                  <a:pt x="3543" y="2361"/>
                  <a:pt x="3596" y="2332"/>
                </a:cubicBezTo>
                <a:cubicBezTo>
                  <a:pt x="3992" y="2134"/>
                  <a:pt x="4333" y="2035"/>
                  <a:pt x="4663" y="2035"/>
                </a:cubicBezTo>
                <a:cubicBezTo>
                  <a:pt x="4685" y="2035"/>
                  <a:pt x="4696" y="2057"/>
                  <a:pt x="4696" y="2079"/>
                </a:cubicBezTo>
                <a:lnTo>
                  <a:pt x="4696" y="3344"/>
                </a:lnTo>
                <a:cubicBezTo>
                  <a:pt x="4696" y="4246"/>
                  <a:pt x="3959" y="4982"/>
                  <a:pt x="3046" y="4982"/>
                </a:cubicBezTo>
                <a:cubicBezTo>
                  <a:pt x="2144" y="4982"/>
                  <a:pt x="1408" y="4246"/>
                  <a:pt x="1408" y="3344"/>
                </a:cubicBezTo>
                <a:lnTo>
                  <a:pt x="1408" y="2057"/>
                </a:lnTo>
                <a:cubicBezTo>
                  <a:pt x="1408" y="2035"/>
                  <a:pt x="1419" y="2013"/>
                  <a:pt x="1441" y="2013"/>
                </a:cubicBezTo>
                <a:cubicBezTo>
                  <a:pt x="1634" y="1970"/>
                  <a:pt x="1823" y="1948"/>
                  <a:pt x="2008" y="1948"/>
                </a:cubicBezTo>
                <a:close/>
                <a:moveTo>
                  <a:pt x="440" y="3344"/>
                </a:moveTo>
                <a:cubicBezTo>
                  <a:pt x="539" y="3652"/>
                  <a:pt x="825" y="3883"/>
                  <a:pt x="1166" y="3883"/>
                </a:cubicBezTo>
                <a:lnTo>
                  <a:pt x="1177" y="3883"/>
                </a:lnTo>
                <a:cubicBezTo>
                  <a:pt x="1221" y="4026"/>
                  <a:pt x="1276" y="4158"/>
                  <a:pt x="1353" y="4290"/>
                </a:cubicBezTo>
                <a:cubicBezTo>
                  <a:pt x="902" y="4422"/>
                  <a:pt x="539" y="4707"/>
                  <a:pt x="297" y="5092"/>
                </a:cubicBezTo>
                <a:lnTo>
                  <a:pt x="297" y="3476"/>
                </a:lnTo>
                <a:cubicBezTo>
                  <a:pt x="297" y="3399"/>
                  <a:pt x="352" y="3344"/>
                  <a:pt x="418" y="3344"/>
                </a:cubicBezTo>
                <a:close/>
                <a:moveTo>
                  <a:pt x="5675" y="3344"/>
                </a:moveTo>
                <a:cubicBezTo>
                  <a:pt x="5752" y="3344"/>
                  <a:pt x="5806" y="3399"/>
                  <a:pt x="5806" y="3476"/>
                </a:cubicBezTo>
                <a:lnTo>
                  <a:pt x="5806" y="5092"/>
                </a:lnTo>
                <a:cubicBezTo>
                  <a:pt x="5565" y="4707"/>
                  <a:pt x="5191" y="4422"/>
                  <a:pt x="4751" y="4290"/>
                </a:cubicBezTo>
                <a:cubicBezTo>
                  <a:pt x="4828" y="4158"/>
                  <a:pt x="4883" y="4026"/>
                  <a:pt x="4916" y="3883"/>
                </a:cubicBezTo>
                <a:lnTo>
                  <a:pt x="4938" y="3883"/>
                </a:lnTo>
                <a:cubicBezTo>
                  <a:pt x="5279" y="3883"/>
                  <a:pt x="5565" y="3652"/>
                  <a:pt x="5653" y="3344"/>
                </a:cubicBezTo>
                <a:close/>
                <a:moveTo>
                  <a:pt x="3640" y="5202"/>
                </a:moveTo>
                <a:lnTo>
                  <a:pt x="3640" y="5400"/>
                </a:lnTo>
                <a:cubicBezTo>
                  <a:pt x="3640" y="5719"/>
                  <a:pt x="3376" y="5983"/>
                  <a:pt x="3057" y="5983"/>
                </a:cubicBezTo>
                <a:cubicBezTo>
                  <a:pt x="2727" y="5983"/>
                  <a:pt x="2463" y="5719"/>
                  <a:pt x="2463" y="5400"/>
                </a:cubicBezTo>
                <a:lnTo>
                  <a:pt x="2463" y="5202"/>
                </a:lnTo>
                <a:cubicBezTo>
                  <a:pt x="2650" y="5257"/>
                  <a:pt x="2848" y="5290"/>
                  <a:pt x="3057" y="5290"/>
                </a:cubicBezTo>
                <a:cubicBezTo>
                  <a:pt x="3255" y="5290"/>
                  <a:pt x="3453" y="5257"/>
                  <a:pt x="3640" y="5202"/>
                </a:cubicBezTo>
                <a:close/>
                <a:moveTo>
                  <a:pt x="4212" y="4905"/>
                </a:moveTo>
                <a:lnTo>
                  <a:pt x="4212" y="9986"/>
                </a:lnTo>
                <a:lnTo>
                  <a:pt x="1892" y="9986"/>
                </a:lnTo>
                <a:lnTo>
                  <a:pt x="1892" y="4905"/>
                </a:lnTo>
                <a:cubicBezTo>
                  <a:pt x="1979" y="4971"/>
                  <a:pt x="2067" y="5026"/>
                  <a:pt x="2166" y="5070"/>
                </a:cubicBezTo>
                <a:lnTo>
                  <a:pt x="2166" y="5400"/>
                </a:lnTo>
                <a:cubicBezTo>
                  <a:pt x="2166" y="5884"/>
                  <a:pt x="2562" y="6280"/>
                  <a:pt x="3057" y="6280"/>
                </a:cubicBezTo>
                <a:cubicBezTo>
                  <a:pt x="3541" y="6280"/>
                  <a:pt x="3937" y="5884"/>
                  <a:pt x="3937" y="5400"/>
                </a:cubicBezTo>
                <a:lnTo>
                  <a:pt x="3937" y="5070"/>
                </a:lnTo>
                <a:cubicBezTo>
                  <a:pt x="4036" y="5026"/>
                  <a:pt x="4124" y="4971"/>
                  <a:pt x="4212" y="4905"/>
                </a:cubicBezTo>
                <a:close/>
                <a:moveTo>
                  <a:pt x="1529" y="4554"/>
                </a:moveTo>
                <a:cubicBezTo>
                  <a:pt x="1551" y="4576"/>
                  <a:pt x="1573" y="4598"/>
                  <a:pt x="1595" y="4631"/>
                </a:cubicBezTo>
                <a:lnTo>
                  <a:pt x="1595" y="9986"/>
                </a:lnTo>
                <a:lnTo>
                  <a:pt x="1023" y="9997"/>
                </a:lnTo>
                <a:lnTo>
                  <a:pt x="1023" y="6687"/>
                </a:lnTo>
                <a:cubicBezTo>
                  <a:pt x="1023" y="6599"/>
                  <a:pt x="957" y="6533"/>
                  <a:pt x="869" y="6533"/>
                </a:cubicBezTo>
                <a:cubicBezTo>
                  <a:pt x="781" y="6533"/>
                  <a:pt x="715" y="6599"/>
                  <a:pt x="715" y="6687"/>
                </a:cubicBezTo>
                <a:lnTo>
                  <a:pt x="715" y="9997"/>
                </a:lnTo>
                <a:lnTo>
                  <a:pt x="319" y="9997"/>
                </a:lnTo>
                <a:cubicBezTo>
                  <a:pt x="308" y="9997"/>
                  <a:pt x="297" y="9975"/>
                  <a:pt x="297" y="9964"/>
                </a:cubicBezTo>
                <a:lnTo>
                  <a:pt x="297" y="6126"/>
                </a:lnTo>
                <a:cubicBezTo>
                  <a:pt x="297" y="5708"/>
                  <a:pt x="451" y="5323"/>
                  <a:pt x="715" y="5026"/>
                </a:cubicBezTo>
                <a:lnTo>
                  <a:pt x="715" y="6082"/>
                </a:lnTo>
                <a:cubicBezTo>
                  <a:pt x="715" y="6159"/>
                  <a:pt x="781" y="6236"/>
                  <a:pt x="869" y="6236"/>
                </a:cubicBezTo>
                <a:cubicBezTo>
                  <a:pt x="957" y="6236"/>
                  <a:pt x="1023" y="6159"/>
                  <a:pt x="1023" y="6082"/>
                </a:cubicBezTo>
                <a:lnTo>
                  <a:pt x="1023" y="4773"/>
                </a:lnTo>
                <a:cubicBezTo>
                  <a:pt x="1177" y="4674"/>
                  <a:pt x="1342" y="4598"/>
                  <a:pt x="1529" y="4554"/>
                </a:cubicBezTo>
                <a:close/>
                <a:moveTo>
                  <a:pt x="4575" y="4554"/>
                </a:moveTo>
                <a:cubicBezTo>
                  <a:pt x="4762" y="4598"/>
                  <a:pt x="4927" y="4674"/>
                  <a:pt x="5081" y="4773"/>
                </a:cubicBezTo>
                <a:lnTo>
                  <a:pt x="5081" y="9997"/>
                </a:lnTo>
                <a:lnTo>
                  <a:pt x="4509" y="9997"/>
                </a:lnTo>
                <a:lnTo>
                  <a:pt x="4509" y="4631"/>
                </a:lnTo>
                <a:cubicBezTo>
                  <a:pt x="4531" y="4598"/>
                  <a:pt x="4553" y="4576"/>
                  <a:pt x="4575" y="4554"/>
                </a:cubicBezTo>
                <a:close/>
                <a:moveTo>
                  <a:pt x="1661" y="1"/>
                </a:moveTo>
                <a:cubicBezTo>
                  <a:pt x="968" y="1"/>
                  <a:pt x="418" y="562"/>
                  <a:pt x="418" y="1243"/>
                </a:cubicBezTo>
                <a:lnTo>
                  <a:pt x="418" y="3047"/>
                </a:lnTo>
                <a:cubicBezTo>
                  <a:pt x="176" y="3047"/>
                  <a:pt x="0" y="3234"/>
                  <a:pt x="0" y="3476"/>
                </a:cubicBezTo>
                <a:lnTo>
                  <a:pt x="0" y="5147"/>
                </a:lnTo>
                <a:cubicBezTo>
                  <a:pt x="0" y="5268"/>
                  <a:pt x="44" y="5367"/>
                  <a:pt x="121" y="5444"/>
                </a:cubicBezTo>
                <a:cubicBezTo>
                  <a:pt x="33" y="5664"/>
                  <a:pt x="0" y="5884"/>
                  <a:pt x="0" y="6126"/>
                </a:cubicBezTo>
                <a:lnTo>
                  <a:pt x="0" y="9964"/>
                </a:lnTo>
                <a:cubicBezTo>
                  <a:pt x="0" y="10140"/>
                  <a:pt x="143" y="10294"/>
                  <a:pt x="330" y="10294"/>
                </a:cubicBezTo>
                <a:lnTo>
                  <a:pt x="5774" y="10294"/>
                </a:lnTo>
                <a:cubicBezTo>
                  <a:pt x="5960" y="10294"/>
                  <a:pt x="6103" y="10140"/>
                  <a:pt x="6103" y="9964"/>
                </a:cubicBezTo>
                <a:lnTo>
                  <a:pt x="6103" y="9381"/>
                </a:lnTo>
                <a:cubicBezTo>
                  <a:pt x="6103" y="9304"/>
                  <a:pt x="6037" y="9227"/>
                  <a:pt x="5960" y="9227"/>
                </a:cubicBezTo>
                <a:cubicBezTo>
                  <a:pt x="5872" y="9227"/>
                  <a:pt x="5806" y="9304"/>
                  <a:pt x="5806" y="9381"/>
                </a:cubicBezTo>
                <a:lnTo>
                  <a:pt x="5806" y="9964"/>
                </a:lnTo>
                <a:cubicBezTo>
                  <a:pt x="5806" y="9975"/>
                  <a:pt x="5796" y="9986"/>
                  <a:pt x="5774" y="9986"/>
                </a:cubicBezTo>
                <a:lnTo>
                  <a:pt x="5378" y="9986"/>
                </a:lnTo>
                <a:lnTo>
                  <a:pt x="5378" y="5026"/>
                </a:lnTo>
                <a:cubicBezTo>
                  <a:pt x="5642" y="5323"/>
                  <a:pt x="5806" y="5708"/>
                  <a:pt x="5806" y="6126"/>
                </a:cubicBezTo>
                <a:lnTo>
                  <a:pt x="5806" y="8776"/>
                </a:lnTo>
                <a:cubicBezTo>
                  <a:pt x="5806" y="8864"/>
                  <a:pt x="5872" y="8930"/>
                  <a:pt x="5960" y="8930"/>
                </a:cubicBezTo>
                <a:cubicBezTo>
                  <a:pt x="6037" y="8930"/>
                  <a:pt x="6103" y="8864"/>
                  <a:pt x="6103" y="8776"/>
                </a:cubicBezTo>
                <a:lnTo>
                  <a:pt x="6103" y="6126"/>
                </a:lnTo>
                <a:cubicBezTo>
                  <a:pt x="6103" y="5884"/>
                  <a:pt x="6070" y="5664"/>
                  <a:pt x="5982" y="5444"/>
                </a:cubicBezTo>
                <a:cubicBezTo>
                  <a:pt x="6059" y="5367"/>
                  <a:pt x="6103" y="5268"/>
                  <a:pt x="6103" y="5147"/>
                </a:cubicBezTo>
                <a:lnTo>
                  <a:pt x="6103" y="3476"/>
                </a:lnTo>
                <a:lnTo>
                  <a:pt x="6114" y="3476"/>
                </a:lnTo>
                <a:cubicBezTo>
                  <a:pt x="6114" y="3234"/>
                  <a:pt x="5927" y="3047"/>
                  <a:pt x="5686" y="3047"/>
                </a:cubicBezTo>
                <a:lnTo>
                  <a:pt x="5686" y="848"/>
                </a:lnTo>
                <a:cubicBezTo>
                  <a:pt x="5686" y="386"/>
                  <a:pt x="5312" y="1"/>
                  <a:pt x="4850" y="1"/>
                </a:cubicBezTo>
                <a:cubicBezTo>
                  <a:pt x="4652" y="1"/>
                  <a:pt x="4454" y="78"/>
                  <a:pt x="4300" y="210"/>
                </a:cubicBezTo>
                <a:lnTo>
                  <a:pt x="4289" y="221"/>
                </a:lnTo>
                <a:cubicBezTo>
                  <a:pt x="4179" y="89"/>
                  <a:pt x="4025" y="1"/>
                  <a:pt x="3838" y="1"/>
                </a:cubicBezTo>
                <a:lnTo>
                  <a:pt x="2991" y="1"/>
                </a:lnTo>
                <a:cubicBezTo>
                  <a:pt x="2903" y="1"/>
                  <a:pt x="2837" y="67"/>
                  <a:pt x="2837" y="155"/>
                </a:cubicBezTo>
                <a:cubicBezTo>
                  <a:pt x="2837" y="243"/>
                  <a:pt x="2903" y="309"/>
                  <a:pt x="2991" y="309"/>
                </a:cubicBezTo>
                <a:lnTo>
                  <a:pt x="3838" y="309"/>
                </a:lnTo>
                <a:cubicBezTo>
                  <a:pt x="3926" y="309"/>
                  <a:pt x="4014" y="353"/>
                  <a:pt x="4058" y="430"/>
                </a:cubicBezTo>
                <a:cubicBezTo>
                  <a:pt x="4102" y="496"/>
                  <a:pt x="4168" y="540"/>
                  <a:pt x="4245" y="551"/>
                </a:cubicBezTo>
                <a:cubicBezTo>
                  <a:pt x="4258" y="553"/>
                  <a:pt x="4270" y="553"/>
                  <a:pt x="4282" y="553"/>
                </a:cubicBezTo>
                <a:cubicBezTo>
                  <a:pt x="4403" y="553"/>
                  <a:pt x="4478" y="461"/>
                  <a:pt x="4498" y="441"/>
                </a:cubicBezTo>
                <a:cubicBezTo>
                  <a:pt x="4597" y="353"/>
                  <a:pt x="4718" y="309"/>
                  <a:pt x="4850" y="309"/>
                </a:cubicBezTo>
                <a:cubicBezTo>
                  <a:pt x="5147" y="309"/>
                  <a:pt x="5389" y="551"/>
                  <a:pt x="5389" y="848"/>
                </a:cubicBezTo>
                <a:lnTo>
                  <a:pt x="5389" y="3124"/>
                </a:lnTo>
                <a:cubicBezTo>
                  <a:pt x="5389" y="3366"/>
                  <a:pt x="5213" y="3553"/>
                  <a:pt x="4982" y="3575"/>
                </a:cubicBezTo>
                <a:cubicBezTo>
                  <a:pt x="4993" y="3498"/>
                  <a:pt x="5004" y="3421"/>
                  <a:pt x="5004" y="3333"/>
                </a:cubicBezTo>
                <a:lnTo>
                  <a:pt x="5004" y="2079"/>
                </a:lnTo>
                <a:cubicBezTo>
                  <a:pt x="5004" y="1892"/>
                  <a:pt x="4850" y="1738"/>
                  <a:pt x="4663" y="1738"/>
                </a:cubicBezTo>
                <a:cubicBezTo>
                  <a:pt x="4646" y="1738"/>
                  <a:pt x="4629" y="1738"/>
                  <a:pt x="4612" y="1738"/>
                </a:cubicBezTo>
                <a:cubicBezTo>
                  <a:pt x="4253" y="1738"/>
                  <a:pt x="3873" y="1848"/>
                  <a:pt x="3453" y="2068"/>
                </a:cubicBezTo>
                <a:cubicBezTo>
                  <a:pt x="3444" y="2073"/>
                  <a:pt x="3435" y="2075"/>
                  <a:pt x="3426" y="2075"/>
                </a:cubicBezTo>
                <a:cubicBezTo>
                  <a:pt x="3413" y="2075"/>
                  <a:pt x="3400" y="2070"/>
                  <a:pt x="3387" y="2057"/>
                </a:cubicBezTo>
                <a:cubicBezTo>
                  <a:pt x="2959" y="1785"/>
                  <a:pt x="2492" y="1644"/>
                  <a:pt x="1998" y="1644"/>
                </a:cubicBezTo>
                <a:cubicBezTo>
                  <a:pt x="1794" y="1644"/>
                  <a:pt x="1586" y="1668"/>
                  <a:pt x="1375" y="1716"/>
                </a:cubicBezTo>
                <a:cubicBezTo>
                  <a:pt x="1221" y="1749"/>
                  <a:pt x="1100" y="1892"/>
                  <a:pt x="1100" y="2057"/>
                </a:cubicBezTo>
                <a:lnTo>
                  <a:pt x="1100" y="3333"/>
                </a:lnTo>
                <a:cubicBezTo>
                  <a:pt x="1100" y="3421"/>
                  <a:pt x="1111" y="3498"/>
                  <a:pt x="1122" y="3575"/>
                </a:cubicBezTo>
                <a:cubicBezTo>
                  <a:pt x="891" y="3553"/>
                  <a:pt x="715" y="3355"/>
                  <a:pt x="715" y="3124"/>
                </a:cubicBezTo>
                <a:lnTo>
                  <a:pt x="715" y="1243"/>
                </a:lnTo>
                <a:cubicBezTo>
                  <a:pt x="715" y="727"/>
                  <a:pt x="1133" y="309"/>
                  <a:pt x="1661" y="309"/>
                </a:cubicBezTo>
                <a:lnTo>
                  <a:pt x="2386" y="309"/>
                </a:lnTo>
                <a:cubicBezTo>
                  <a:pt x="2474" y="309"/>
                  <a:pt x="2540" y="243"/>
                  <a:pt x="2540" y="155"/>
                </a:cubicBezTo>
                <a:cubicBezTo>
                  <a:pt x="2540" y="67"/>
                  <a:pt x="2474" y="1"/>
                  <a:pt x="238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5"/>
          <p:cNvSpPr txBox="1"/>
          <p:nvPr>
            <p:ph idx="1" type="body"/>
          </p:nvPr>
        </p:nvSpPr>
        <p:spPr>
          <a:xfrm>
            <a:off x="1691100" y="1759300"/>
            <a:ext cx="5761800" cy="20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Move from therapy to assistive real-time communication.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Overview: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Font typeface="Commissioner"/>
              <a:buChar char="■"/>
            </a:pPr>
            <a:r>
              <a:rPr lang="en"/>
              <a:t>ASR with noise and stutter detection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ommissioner"/>
              <a:buChar char="■"/>
            </a:pPr>
            <a:r>
              <a:rPr lang="en"/>
              <a:t>Personalized speech model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ommissioner"/>
              <a:buChar char="■"/>
            </a:pPr>
            <a:r>
              <a:rPr lang="en"/>
              <a:t>Live caption display and an optional, synthetic clean voice</a:t>
            </a:r>
            <a:endParaRPr/>
          </a:p>
        </p:txBody>
      </p:sp>
      <p:sp>
        <p:nvSpPr>
          <p:cNvPr id="400" name="Google Shape;400;p45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Direction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6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solution</a:t>
            </a:r>
            <a:endParaRPr/>
          </a:p>
        </p:txBody>
      </p:sp>
      <p:sp>
        <p:nvSpPr>
          <p:cNvPr id="406" name="Google Shape;406;p46"/>
          <p:cNvSpPr txBox="1"/>
          <p:nvPr>
            <p:ph idx="1" type="subTitle"/>
          </p:nvPr>
        </p:nvSpPr>
        <p:spPr>
          <a:xfrm>
            <a:off x="1106875" y="1964500"/>
            <a:ext cx="3200400" cy="18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07" name="Google Shape;407;p46"/>
          <p:cNvSpPr txBox="1"/>
          <p:nvPr>
            <p:ph idx="2" type="subTitle"/>
          </p:nvPr>
        </p:nvSpPr>
        <p:spPr>
          <a:xfrm>
            <a:off x="1106850" y="1686700"/>
            <a:ext cx="6930300" cy="24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Stages: 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Audio Capture and Preprocessing  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Speech Enhancement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Speech-to-Text Captioning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-"/>
            </a:pPr>
            <a:r>
              <a:rPr lang="en">
                <a:solidFill>
                  <a:srgbClr val="FF0000"/>
                </a:solidFill>
              </a:rPr>
              <a:t>Personalization Module</a:t>
            </a:r>
            <a:endParaRPr>
              <a:solidFill>
                <a:srgbClr val="FF0000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-"/>
            </a:pPr>
            <a:r>
              <a:rPr lang="en">
                <a:solidFill>
                  <a:srgbClr val="FF0000"/>
                </a:solidFill>
              </a:rPr>
              <a:t>Display and Output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7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Audio Capture and Preprocessing</a:t>
            </a:r>
            <a:endParaRPr/>
          </a:p>
        </p:txBody>
      </p:sp>
      <p:sp>
        <p:nvSpPr>
          <p:cNvPr id="413" name="Google Shape;413;p47"/>
          <p:cNvSpPr txBox="1"/>
          <p:nvPr>
            <p:ph idx="1" type="subTitle"/>
          </p:nvPr>
        </p:nvSpPr>
        <p:spPr>
          <a:xfrm>
            <a:off x="1106875" y="1964500"/>
            <a:ext cx="3200400" cy="18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14" name="Google Shape;414;p47"/>
          <p:cNvSpPr txBox="1"/>
          <p:nvPr>
            <p:ph idx="2" type="subTitle"/>
          </p:nvPr>
        </p:nvSpPr>
        <p:spPr>
          <a:xfrm>
            <a:off x="1106875" y="1686700"/>
            <a:ext cx="6930300" cy="24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Overview</a:t>
            </a:r>
            <a:r>
              <a:rPr b="1" lang="en"/>
              <a:t>: 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Involves retrieving the live microphone input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Detecting stutters and filtering noise out using pause detection and syllable repetition features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Convert the raw waveforms → a stream of clean speech 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We used a 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PyTorch </a:t>
            </a: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Silero-VAD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(lightweight DNN voice-activity detector) to segment real-time audio stream into speech chunks and remove silence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8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Speech Enhancement</a:t>
            </a:r>
            <a:endParaRPr/>
          </a:p>
        </p:txBody>
      </p:sp>
      <p:sp>
        <p:nvSpPr>
          <p:cNvPr id="420" name="Google Shape;420;p48"/>
          <p:cNvSpPr txBox="1"/>
          <p:nvPr>
            <p:ph idx="1" type="subTitle"/>
          </p:nvPr>
        </p:nvSpPr>
        <p:spPr>
          <a:xfrm>
            <a:off x="1106875" y="1964500"/>
            <a:ext cx="3200400" cy="18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21" name="Google Shape;421;p48"/>
          <p:cNvSpPr txBox="1"/>
          <p:nvPr>
            <p:ph idx="2" type="subTitle"/>
          </p:nvPr>
        </p:nvSpPr>
        <p:spPr>
          <a:xfrm>
            <a:off x="1106875" y="1686700"/>
            <a:ext cx="6930300" cy="24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Overview: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Removes prolongations (i.e. “ssss”), repetitions (“wa-wa-water”), and fills in the gaps in speech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We used DeepFilterNet, a pytorch block to remove clean up audio (A denoise filter)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9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Speech-to-Text Captioning</a:t>
            </a:r>
            <a:endParaRPr/>
          </a:p>
        </p:txBody>
      </p:sp>
      <p:sp>
        <p:nvSpPr>
          <p:cNvPr id="427" name="Google Shape;427;p49"/>
          <p:cNvSpPr txBox="1"/>
          <p:nvPr>
            <p:ph idx="1" type="subTitle"/>
          </p:nvPr>
        </p:nvSpPr>
        <p:spPr>
          <a:xfrm>
            <a:off x="1106875" y="1964500"/>
            <a:ext cx="3200400" cy="18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28" name="Google Shape;428;p49"/>
          <p:cNvSpPr txBox="1"/>
          <p:nvPr>
            <p:ph idx="2" type="subTitle"/>
          </p:nvPr>
        </p:nvSpPr>
        <p:spPr>
          <a:xfrm>
            <a:off x="392850" y="1123725"/>
            <a:ext cx="8268000" cy="32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Overview: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Real-time ASR (i.e. Whisper’s small model)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Integrates with the preprocessed, clean audio for producing  </a:t>
            </a:r>
            <a:r>
              <a:rPr b="1" lang="en"/>
              <a:t>caption stream</a:t>
            </a:r>
            <a:r>
              <a:rPr lang="en"/>
              <a:t> with low latency (&lt; 1 second)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Adds necessary punctuation and word confidence tags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Approach: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Dense Prediction Head -&gt; Confidence Refinement Layer -&gt; Clean Caption Decoder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Dense Prediction Head : Whisper + Bidirectional LSTM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-&gt; Outputs (Binary Logit,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keep or delay the token)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Confidence Refinement Layer :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1D CNN + Dense layer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-&gt; (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frame-aligned confidence scores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Clean Caption Decoder : Lightweight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edit-predictor GRU (1×128)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that learns token-level edit actions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	Keep, Delete-Repeat, Delete-Filler, Merge-Prolong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     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0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Personalization Module</a:t>
            </a:r>
            <a:endParaRPr/>
          </a:p>
        </p:txBody>
      </p:sp>
      <p:sp>
        <p:nvSpPr>
          <p:cNvPr id="434" name="Google Shape;434;p50"/>
          <p:cNvSpPr txBox="1"/>
          <p:nvPr>
            <p:ph idx="1" type="subTitle"/>
          </p:nvPr>
        </p:nvSpPr>
        <p:spPr>
          <a:xfrm>
            <a:off x="1106875" y="1964500"/>
            <a:ext cx="3200400" cy="18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35" name="Google Shape;435;p50"/>
          <p:cNvSpPr txBox="1"/>
          <p:nvPr>
            <p:ph idx="2" type="subTitle"/>
          </p:nvPr>
        </p:nvSpPr>
        <p:spPr>
          <a:xfrm>
            <a:off x="1106875" y="1686700"/>
            <a:ext cx="6930300" cy="24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Overview: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Tracks each user’s unique stuttering profile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Average syllable rate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Typical pause length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Frequently occurring phoneme repetitions (involuntary repetition of one’s phrases)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Adapts the speech-cleaning and ASR thresholds per each user over time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1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Display and Voice Output</a:t>
            </a:r>
            <a:endParaRPr/>
          </a:p>
        </p:txBody>
      </p:sp>
      <p:sp>
        <p:nvSpPr>
          <p:cNvPr id="441" name="Google Shape;441;p51"/>
          <p:cNvSpPr txBox="1"/>
          <p:nvPr>
            <p:ph idx="1" type="subTitle"/>
          </p:nvPr>
        </p:nvSpPr>
        <p:spPr>
          <a:xfrm>
            <a:off x="1106875" y="1964500"/>
            <a:ext cx="3200400" cy="18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42" name="Google Shape;442;p51"/>
          <p:cNvSpPr txBox="1"/>
          <p:nvPr>
            <p:ph idx="2" type="subTitle"/>
          </p:nvPr>
        </p:nvSpPr>
        <p:spPr>
          <a:xfrm>
            <a:off x="1106875" y="1686700"/>
            <a:ext cx="6930300" cy="24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Overview: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Captions are then displayed in readable text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An additional option of clean, synthesized voice utilizing text-to-speech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Multiple modes: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Private caption generation mode (for self-use)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Speaker mode (for the audience)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2"/>
          <p:cNvSpPr txBox="1"/>
          <p:nvPr>
            <p:ph type="title"/>
          </p:nvPr>
        </p:nvSpPr>
        <p:spPr>
          <a:xfrm>
            <a:off x="713225" y="3153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Datasets </a:t>
            </a:r>
            <a:endParaRPr/>
          </a:p>
        </p:txBody>
      </p:sp>
      <p:pic>
        <p:nvPicPr>
          <p:cNvPr id="448" name="Google Shape;448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650" y="1050625"/>
            <a:ext cx="8454649" cy="3336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3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Evaluating</a:t>
            </a:r>
            <a:r>
              <a:rPr lang="en"/>
              <a:t> our method and challenges</a:t>
            </a:r>
            <a:endParaRPr/>
          </a:p>
        </p:txBody>
      </p:sp>
      <p:graphicFrame>
        <p:nvGraphicFramePr>
          <p:cNvPr id="454" name="Google Shape;454;p53"/>
          <p:cNvGraphicFramePr/>
          <p:nvPr/>
        </p:nvGraphicFramePr>
        <p:xfrm>
          <a:off x="861150" y="1313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{34B6192C-FCB5-4E8F-8713-6B1C9BEB18BB}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Baseline (ASR)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Our system with 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(Sep-28k </a:t>
                      </a:r>
                      <a:r>
                        <a:rPr lang="en"/>
                        <a:t>Fine Tuning</a:t>
                      </a:r>
                      <a:r>
                        <a:rPr lang="en"/>
                        <a:t>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/>
                        <a:t>ASR Accuracy on Stuttered Speech :  WER ↓ (SEP-28k)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29.6 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18.4 (−37.8% reduction in error)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Latency of system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 seconds (for processing 1.2 sec audio)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2.4 seconds (for processing 1.2 sec audio)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55" name="Google Shape;455;p53"/>
          <p:cNvSpPr txBox="1"/>
          <p:nvPr/>
        </p:nvSpPr>
        <p:spPr>
          <a:xfrm>
            <a:off x="1032350" y="3590400"/>
            <a:ext cx="6386100" cy="9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Once we have personalisation ready for this system, we shall have metric as “Mean delay from speech to caption” and stability check (% tokens not rewritten after first display).</a:t>
            </a:r>
            <a:endParaRPr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4"/>
          <p:cNvSpPr txBox="1"/>
          <p:nvPr>
            <p:ph idx="1" type="body"/>
          </p:nvPr>
        </p:nvSpPr>
        <p:spPr>
          <a:xfrm>
            <a:off x="264950" y="1132850"/>
            <a:ext cx="8560500" cy="37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Current Model output: -&gt; Takes 36 seconds to </a:t>
            </a:r>
            <a:r>
              <a:rPr lang="en"/>
              <a:t>generate</a:t>
            </a:r>
            <a:r>
              <a:rPr lang="en"/>
              <a:t> below clean audio</a:t>
            </a:r>
            <a:endParaRPr/>
          </a:p>
          <a:p>
            <a:pPr indent="45720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here in New York for a while. I don't anymore. But I sometimes found myself the only woman with like 10 or 12 guys and I sometimes felt really uncomfortable with that, like always being the only woman there. So it's good to hear that you kind of have a mixed group. I think that's really important. Yeah. What was it about that first meeting that your girl, your girlfriend?</a:t>
            </a:r>
            <a:endParaRPr/>
          </a:p>
        </p:txBody>
      </p:sp>
      <p:sp>
        <p:nvSpPr>
          <p:cNvPr id="461" name="Google Shape;461;p54"/>
          <p:cNvSpPr txBox="1"/>
          <p:nvPr>
            <p:ph type="title"/>
          </p:nvPr>
        </p:nvSpPr>
        <p:spPr>
          <a:xfrm>
            <a:off x="713250" y="251400"/>
            <a:ext cx="77175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Latency Issues</a:t>
            </a:r>
            <a:endParaRPr/>
          </a:p>
        </p:txBody>
      </p:sp>
      <p:pic>
        <p:nvPicPr>
          <p:cNvPr id="462" name="Google Shape;462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250" y="940950"/>
            <a:ext cx="8105899" cy="193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5"/>
          <p:cNvSpPr txBox="1"/>
          <p:nvPr>
            <p:ph idx="1" type="body"/>
          </p:nvPr>
        </p:nvSpPr>
        <p:spPr>
          <a:xfrm>
            <a:off x="990675" y="1006075"/>
            <a:ext cx="7504500" cy="36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Nov : 1 - 10  Collect Personalised data (2 - 3 people) also use GPT.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Nov: 11 - 15 FineTune ASR + LSTM with collected data.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Nov: 16 - 26 Create  </a:t>
            </a:r>
            <a:r>
              <a:rPr lang="en">
                <a:solidFill>
                  <a:srgbClr val="000000"/>
                </a:solidFill>
              </a:rPr>
              <a:t>Android</a:t>
            </a:r>
            <a:r>
              <a:rPr lang="en">
                <a:solidFill>
                  <a:srgbClr val="000000"/>
                </a:solidFill>
              </a:rPr>
              <a:t> App with system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000000"/>
                </a:solidFill>
              </a:rPr>
              <a:t>Nov: 27 - Dec 3 : Take user feedback for final report.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68" name="Google Shape;468;p55"/>
          <p:cNvSpPr txBox="1"/>
          <p:nvPr>
            <p:ph type="title"/>
          </p:nvPr>
        </p:nvSpPr>
        <p:spPr>
          <a:xfrm>
            <a:off x="713250" y="3128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Milestones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6"/>
          <p:cNvSpPr txBox="1"/>
          <p:nvPr>
            <p:ph type="title"/>
          </p:nvPr>
        </p:nvSpPr>
        <p:spPr>
          <a:xfrm>
            <a:off x="1864800" y="1219025"/>
            <a:ext cx="5414400" cy="197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474" name="Google Shape;474;p56"/>
          <p:cNvSpPr txBox="1"/>
          <p:nvPr/>
        </p:nvSpPr>
        <p:spPr>
          <a:xfrm>
            <a:off x="2790300" y="2814225"/>
            <a:ext cx="44889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rmulating a Research Problem for University Students by Slidesgo">
  <a:themeElements>
    <a:clrScheme name="Simple Light">
      <a:dk1>
        <a:srgbClr val="0A0A0A"/>
      </a:dk1>
      <a:lt1>
        <a:srgbClr val="F9F9F9"/>
      </a:lt1>
      <a:dk2>
        <a:srgbClr val="DDDDDD"/>
      </a:dk2>
      <a:lt2>
        <a:srgbClr val="B3B4B3"/>
      </a:lt2>
      <a:accent1>
        <a:srgbClr val="878887"/>
      </a:accent1>
      <a:accent2>
        <a:srgbClr val="5F616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A0A0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